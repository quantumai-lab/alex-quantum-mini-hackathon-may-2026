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62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embeddedFontLst>
    <p:embeddedFont>
      <p:font typeface="Helvetica Neue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6FFA47-0614-44FB-86FE-075D44433AB6}">
  <a:tblStyle styleId="{516FFA47-0614-44FB-86FE-075D44433A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52" y="3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e35de20d85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g3e35de20d85_2_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e35de20d85_2_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36ae6ffd0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g3e36ae6ffd0_0_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e36ae6ffd0_0_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35de20d85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g3e35de20d85_2_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e35de20d85_2_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35de20d85_2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g3e35de20d85_2_4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e35de20d85_2_4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35de20d8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g3e35de20d85_0_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e35de20d85_0_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35de20d8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g3e35de20d85_0_10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600" cy="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e35de20d85_0_10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600" cy="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ar" sz="1800" b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35de20d8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g3e35de20d85_0_3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600" cy="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e35de20d85_0_3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600" cy="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ar" sz="1800" b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35de20d85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g3e35de20d85_0_5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e35de20d85_0_5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35de20d85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g3e35de20d85_2_8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e35de20d85_2_8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35de20d85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g3e35de20d85_0_8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e35de20d85_0_8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35de20d85_2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g3e35de20d85_2_1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" sz="1500">
                <a:solidFill>
                  <a:schemeClr val="dk1"/>
                </a:solidFill>
              </a:rPr>
              <a:t>⭐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e35de20d85_2_1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35de20d85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g3e35de20d85_0_1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e35de20d85_0_1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35de20d85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g3e35de20d85_0_1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e35de20d85_0_1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35de20d85_2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g3e35de20d85_2_1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e35de20d85_2_1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35de20d85_2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g3e35de20d85_2_14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e35de20d85_2_14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e35de20d85_2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g3e35de20d85_2_17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e35de20d85_2_17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1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" name="Google Shape;59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36576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6"/>
          <p:cNvSpPr/>
          <p:nvPr/>
        </p:nvSpPr>
        <p:spPr>
          <a:xfrm>
            <a:off x="320040" y="1325880"/>
            <a:ext cx="8503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lang="ar" sz="4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Dementia Early Detection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6"/>
          <p:cNvSpPr/>
          <p:nvPr/>
        </p:nvSpPr>
        <p:spPr>
          <a:xfrm>
            <a:off x="320040" y="224028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lang="ar" sz="17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Classical &amp; Quantum Machine Learning on OASIS Brain MRI Dataset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320040" y="342900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ar" sz="1900" b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Team Beta:     Dalia Mousa , Enas Emad,  and Haneen Ghanem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320040" y="3840480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ar" sz="19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Mentor: Dr. Maha Metawe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320040" y="4526285"/>
            <a:ext cx="8503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ar" sz="12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OASIS Longitudinal Dataset  ·  PennyLane VQC  ·  Scikit-learn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16" descr="Bibliotheca Alexandrina - مكتبة الإسكندرية (@bibalexOfficial ..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3364" y="139066"/>
            <a:ext cx="1643064" cy="1015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99314" y="141351"/>
            <a:ext cx="1924050" cy="1012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/>
        </p:nvSpPr>
        <p:spPr>
          <a:xfrm>
            <a:off x="0" y="2886825"/>
            <a:ext cx="9144000" cy="225660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Google Shape;73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36576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7"/>
          <p:cNvSpPr/>
          <p:nvPr/>
        </p:nvSpPr>
        <p:spPr>
          <a:xfrm>
            <a:off x="320040" y="1325880"/>
            <a:ext cx="850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lang="ar" sz="4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Contribution: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320040" y="2240280"/>
            <a:ext cx="8503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lang="ar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Beta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320050" y="2926200"/>
            <a:ext cx="850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ar" sz="1900" b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Dalia Mousa: Introduction and Problem Statement</a:t>
            </a:r>
            <a:endParaRPr sz="1900" b="1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ar" sz="1900" b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Enas Emad: Classical and Quantum Pipeline </a:t>
            </a:r>
            <a:endParaRPr sz="1900" b="1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ar" sz="1900" b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Haneen Ghanem: Business Analysis and Future Work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320040" y="3840480"/>
            <a:ext cx="8503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ar" sz="19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Mentor: Dr. Maha Metawe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320090" y="4526535"/>
            <a:ext cx="8503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17" descr="Bibliotheca Alexandrina - مكتبة الإسكندرية (@bibalexOfficial ..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3364" y="139066"/>
            <a:ext cx="1643064" cy="1015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99314" y="141351"/>
            <a:ext cx="1924050" cy="1012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320040" y="64008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ar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 &amp; Dataset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ar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274320" y="685800"/>
            <a:ext cx="4023360" cy="425196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8"/>
          <p:cNvSpPr/>
          <p:nvPr/>
        </p:nvSpPr>
        <p:spPr>
          <a:xfrm>
            <a:off x="274320" y="685800"/>
            <a:ext cx="64008" cy="425196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8"/>
          <p:cNvSpPr/>
          <p:nvPr/>
        </p:nvSpPr>
        <p:spPr>
          <a:xfrm>
            <a:off x="502920" y="804672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libri"/>
              <a:buNone/>
            </a:pPr>
            <a:r>
              <a:rPr lang="ar" sz="17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Why Early Detection?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502920" y="1261872"/>
            <a:ext cx="356616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92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ar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Dementia affects 55M+ people worldwide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ar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Early diagnosis can slow disease progression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ar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Brain changes occur years before symptoms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ar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Goal: classify patients into 3 groups using MRI-derived features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4572000" y="685800"/>
            <a:ext cx="4297680" cy="425196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4572000" y="685800"/>
            <a:ext cx="64008" cy="425196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4800600" y="80467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libri"/>
              <a:buNone/>
            </a:pPr>
            <a:r>
              <a:rPr lang="ar" sz="17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OASIS Longitudinal Dataset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4754880" y="1325880"/>
            <a:ext cx="1920240" cy="749808"/>
          </a:xfrm>
          <a:prstGeom prst="rect">
            <a:avLst/>
          </a:prstGeom>
          <a:solidFill>
            <a:srgbClr val="E0F4F9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4754880" y="136245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600"/>
              <a:buFont typeface="Calibri"/>
              <a:buNone/>
            </a:pPr>
            <a:r>
              <a:rPr lang="ar" sz="2600" b="1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4754880" y="170992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ar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Subjects (60–96 yrs)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4754880" y="2240280"/>
            <a:ext cx="1920240" cy="749808"/>
          </a:xfrm>
          <a:prstGeom prst="rect">
            <a:avLst/>
          </a:prstGeom>
          <a:solidFill>
            <a:srgbClr val="E0F4F9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4754880" y="227685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600"/>
              <a:buFont typeface="Calibri"/>
              <a:buNone/>
            </a:pPr>
            <a:r>
              <a:rPr lang="ar" sz="2600" b="1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373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4754880" y="262432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ar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MRI Sessions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4754880" y="3154680"/>
            <a:ext cx="1920240" cy="749808"/>
          </a:xfrm>
          <a:prstGeom prst="rect">
            <a:avLst/>
          </a:prstGeom>
          <a:solidFill>
            <a:srgbClr val="E0F4F9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4754880" y="319125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600"/>
              <a:buFont typeface="Calibri"/>
              <a:buNone/>
            </a:pPr>
            <a:r>
              <a:rPr lang="ar" sz="2600" b="1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4754880" y="353872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ar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Nondemented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6858000" y="1325880"/>
            <a:ext cx="1920240" cy="749808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6858000" y="136245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600"/>
              <a:buFont typeface="Calibri"/>
              <a:buNone/>
            </a:pPr>
            <a:r>
              <a:rPr lang="ar" sz="260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6858000" y="170992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ar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Demented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6858000" y="2240280"/>
            <a:ext cx="1920240" cy="749808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6858000" y="227685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600"/>
              <a:buFont typeface="Calibri"/>
              <a:buNone/>
            </a:pPr>
            <a:r>
              <a:rPr lang="ar" sz="260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6858000" y="262432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ar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Converted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4754880" y="42519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ar" sz="11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Features: Age · Sex · EDUC · SES · MMSE · CDR · eTIV · nWBV · ASF · MR Delay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320040" y="64008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ar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Overview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ar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274320" y="685800"/>
            <a:ext cx="1920240" cy="41148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274320" y="685800"/>
            <a:ext cx="1920240" cy="54864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" name="Google Shape;122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408" y="777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/>
          <p:nvPr/>
        </p:nvSpPr>
        <p:spPr>
          <a:xfrm>
            <a:off x="347472" y="1307592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ar" sz="15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1. Preprocess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247025" y="1764800"/>
            <a:ext cx="1920300" cy="28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ar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Fill nulls (mean)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ar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Encode labels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ar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StandardScaler</a:t>
            </a:r>
            <a:endParaRPr sz="14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ar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Subject-Wise Split</a:t>
            </a:r>
            <a:endParaRPr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ar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70% / 15% / 15%</a:t>
            </a:r>
            <a:endParaRPr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2249424" y="256032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ar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2450592" y="685800"/>
            <a:ext cx="1920240" cy="41148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2450592" y="685800"/>
            <a:ext cx="1920240" cy="54864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" name="Google Shape;128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4680" y="777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/>
          <p:nvPr/>
        </p:nvSpPr>
        <p:spPr>
          <a:xfrm>
            <a:off x="2523744" y="1307592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ar" sz="15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2. Classical ML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2560320" y="1764792"/>
            <a:ext cx="1700784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ar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 classifiers</a:t>
            </a:r>
            <a:endParaRPr sz="14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ar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5-fold CV</a:t>
            </a:r>
            <a:endParaRPr/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ar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Acc · F1 · AUC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4425696" y="256032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ar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4626864" y="685800"/>
            <a:ext cx="1920240" cy="41148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4626864" y="685800"/>
            <a:ext cx="1920240" cy="54864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" name="Google Shape;134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0952" y="777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/>
          <p:nvPr/>
        </p:nvSpPr>
        <p:spPr>
          <a:xfrm>
            <a:off x="4700016" y="1307592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ar" sz="15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3. Quantum VQC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4599575" y="1764800"/>
            <a:ext cx="1920300" cy="28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ar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 VQC designs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ar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Angle encoding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ar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PennyLane Adam</a:t>
            </a:r>
            <a:endParaRPr sz="14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ar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 epochs max</a:t>
            </a:r>
            <a:endParaRPr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ar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Early Stopping</a:t>
            </a:r>
            <a:endParaRPr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ar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Patience = 5 epochs</a:t>
            </a:r>
            <a:endParaRPr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6601968" y="256032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ar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6803136" y="685800"/>
            <a:ext cx="1920240" cy="41148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6803136" y="685800"/>
            <a:ext cx="1920240" cy="54864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0" name="Google Shape;140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07224" y="777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/>
          <p:nvPr/>
        </p:nvSpPr>
        <p:spPr>
          <a:xfrm>
            <a:off x="6876288" y="1307592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ar" sz="15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4. Compare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6912876" y="1764800"/>
            <a:ext cx="1783200" cy="28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ar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Classical vs QML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ar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Metrics table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ar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Business insights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320040" y="64008"/>
            <a:ext cx="8503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ar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 Insights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274320" y="685800"/>
            <a:ext cx="4023300" cy="42519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274320" y="685800"/>
            <a:ext cx="63900" cy="425190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502925" y="757454"/>
            <a:ext cx="36576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libri"/>
              <a:buNone/>
            </a:pPr>
            <a:r>
              <a:rPr lang="ar" sz="17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Main 10 Features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384700" y="932425"/>
            <a:ext cx="3880500" cy="37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ar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 &amp; gender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ar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EDUC → Years of education completed.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ar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 → Socioeconomic status score.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ar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MMSE → Mini-Mental State Examination score (0–30); higher = better cognitive function.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ar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CDR → Clinical Dementia Rating score; higher = more severe dementia.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ar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eTIV → Estimated Total Intracranial Volume (total skull/brain cavity size).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ar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nWBV → Normalized Whole Brain Volume; proportion of brain volume (lower may indicate brain atrophy).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ar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ASF → Atlas Scaling Factor; scaling value used to normalize brain size to a standard atlas.</a:t>
            </a:r>
            <a:r>
              <a:rPr lang="ar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marL="342900" marR="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4572000" y="685800"/>
            <a:ext cx="63900" cy="425190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" name="Google Shape;155;p20"/>
          <p:cNvPicPr preferRelativeResize="0"/>
          <p:nvPr/>
        </p:nvPicPr>
        <p:blipFill rotWithShape="1">
          <a:blip r:embed="rId3">
            <a:alphaModFix/>
          </a:blip>
          <a:srcRect l="34434" t="51277" r="34104" b="-1055"/>
          <a:stretch/>
        </p:blipFill>
        <p:spPr>
          <a:xfrm>
            <a:off x="4910275" y="902748"/>
            <a:ext cx="3778123" cy="1669001"/>
          </a:xfrm>
          <a:prstGeom prst="rect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6" name="Google Shape;156;p20"/>
          <p:cNvPicPr preferRelativeResize="0"/>
          <p:nvPr/>
        </p:nvPicPr>
        <p:blipFill rotWithShape="1">
          <a:blip r:embed="rId3">
            <a:alphaModFix/>
          </a:blip>
          <a:srcRect r="67338" b="46621"/>
          <a:stretch/>
        </p:blipFill>
        <p:spPr>
          <a:xfrm>
            <a:off x="4996125" y="2702775"/>
            <a:ext cx="3880622" cy="2111426"/>
          </a:xfrm>
          <a:prstGeom prst="rect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/>
          <p:nvPr/>
        </p:nvSpPr>
        <p:spPr>
          <a:xfrm>
            <a:off x="0" y="0"/>
            <a:ext cx="9143700" cy="502500"/>
          </a:xfrm>
          <a:prstGeom prst="rect">
            <a:avLst/>
          </a:prstGeom>
          <a:solidFill>
            <a:srgbClr val="1B2A4A"/>
          </a:solidFill>
          <a:ln w="126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320040" y="64080"/>
            <a:ext cx="85035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" sz="2200" b="1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Classical ML Results</a:t>
            </a:r>
            <a:endParaRPr sz="2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8686800" y="4846320"/>
            <a:ext cx="3654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" sz="1000" b="0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5" name="Google Shape;165;p21"/>
          <p:cNvGraphicFramePr/>
          <p:nvPr/>
        </p:nvGraphicFramePr>
        <p:xfrm>
          <a:off x="93930" y="896140"/>
          <a:ext cx="8729625" cy="3556570"/>
        </p:xfrm>
        <a:graphic>
          <a:graphicData uri="http://schemas.openxmlformats.org/drawingml/2006/table">
            <a:tbl>
              <a:tblPr>
                <a:noFill/>
                <a:tableStyleId>{516FFA47-0614-44FB-86FE-075D44433AB6}</a:tableStyleId>
              </a:tblPr>
              <a:tblGrid>
                <a:gridCol w="269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1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5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9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(weighted)</a:t>
                      </a:r>
                      <a:endParaRPr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AUC-ROC</a:t>
                      </a:r>
                      <a:endParaRPr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 Acc (mean±std)</a:t>
                      </a:r>
                      <a:endParaRPr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 Time (s)</a:t>
                      </a:r>
                      <a:endParaRPr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Naive Bayes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0.9322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0.9250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0.9313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0.8949 </a:t>
                      </a:r>
                      <a:r>
                        <a:rPr lang="ar" sz="850">
                          <a:solidFill>
                            <a:schemeClr val="dk1"/>
                          </a:solidFill>
                        </a:rPr>
                        <a:t>± 0.0276</a:t>
                      </a:r>
                      <a:endParaRPr sz="85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0.039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Gradient Boosting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0.8814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0.8344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0.9141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0.9078 </a:t>
                      </a:r>
                      <a:r>
                        <a:rPr lang="ar" sz="850">
                          <a:solidFill>
                            <a:schemeClr val="dk1"/>
                          </a:solidFill>
                        </a:rPr>
                        <a:t>± 0.0271</a:t>
                      </a:r>
                      <a:endParaRPr sz="85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7.38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XGBoost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0.8814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0.8344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0.9428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0.9109 </a:t>
                      </a:r>
                      <a:r>
                        <a:rPr lang="ar" sz="850">
                          <a:solidFill>
                            <a:schemeClr val="dk1"/>
                          </a:solidFill>
                        </a:rPr>
                        <a:t>± 0.0213</a:t>
                      </a:r>
                      <a:endParaRPr sz="750">
                        <a:solidFill>
                          <a:schemeClr val="dk1"/>
                        </a:solidFill>
                        <a:highlight>
                          <a:srgbClr val="1B4614"/>
                        </a:highlight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3.626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Random Forest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0.8814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0.8344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0.9491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0.9109 </a:t>
                      </a:r>
                      <a:r>
                        <a:rPr lang="ar" sz="850">
                          <a:solidFill>
                            <a:schemeClr val="dk1"/>
                          </a:solidFill>
                        </a:rPr>
                        <a:t>± 0.0213</a:t>
                      </a:r>
                      <a:endParaRPr sz="750">
                        <a:solidFill>
                          <a:schemeClr val="dk1"/>
                        </a:solidFill>
                        <a:highlight>
                          <a:srgbClr val="1B4614"/>
                        </a:highlight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5.872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SVM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0.8475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0.8555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0.9491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0.8756 </a:t>
                      </a:r>
                      <a:r>
                        <a:rPr lang="ar" sz="850">
                          <a:solidFill>
                            <a:schemeClr val="dk1"/>
                          </a:solidFill>
                        </a:rPr>
                        <a:t>± 0.0440</a:t>
                      </a:r>
                      <a:endParaRPr sz="85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0.148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Decision Tree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0.8475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0.8535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0.9141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0.8218 </a:t>
                      </a:r>
                      <a:r>
                        <a:rPr lang="ar" sz="850">
                          <a:solidFill>
                            <a:schemeClr val="dk1"/>
                          </a:solidFill>
                        </a:rPr>
                        <a:t>± 0.0248</a:t>
                      </a:r>
                      <a:endParaRPr sz="85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4.375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KNN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0.8305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0.7880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0.8614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0.8821 </a:t>
                      </a:r>
                      <a:r>
                        <a:rPr lang="ar" sz="850">
                          <a:solidFill>
                            <a:schemeClr val="dk1"/>
                          </a:solidFill>
                        </a:rPr>
                        <a:t>± 0.0312</a:t>
                      </a:r>
                      <a:endParaRPr sz="85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0.044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Logistic Regression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0.7966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0.8198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0.9713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0.8632 </a:t>
                      </a:r>
                      <a:r>
                        <a:rPr lang="ar" sz="850">
                          <a:solidFill>
                            <a:schemeClr val="dk1"/>
                          </a:solidFill>
                        </a:rPr>
                        <a:t>± 0.0290</a:t>
                      </a:r>
                      <a:endParaRPr sz="85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000">
                          <a:solidFill>
                            <a:schemeClr val="dk1"/>
                          </a:solidFill>
                        </a:rPr>
                        <a:t>6.187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/>
          <p:nvPr/>
        </p:nvSpPr>
        <p:spPr>
          <a:xfrm>
            <a:off x="0" y="0"/>
            <a:ext cx="9143700" cy="502500"/>
          </a:xfrm>
          <a:prstGeom prst="rect">
            <a:avLst/>
          </a:prstGeom>
          <a:solidFill>
            <a:srgbClr val="1B2A4A"/>
          </a:solidFill>
          <a:ln w="126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320040" y="64080"/>
            <a:ext cx="85035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" sz="2200" b="1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Classical ML Results</a:t>
            </a:r>
            <a:endParaRPr sz="2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8686800" y="4846320"/>
            <a:ext cx="3654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" sz="1000" b="0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22"/>
          <p:cNvPicPr preferRelativeResize="0"/>
          <p:nvPr/>
        </p:nvPicPr>
        <p:blipFill rotWithShape="1">
          <a:blip r:embed="rId3">
            <a:alphaModFix/>
          </a:blip>
          <a:srcRect t="38222"/>
          <a:stretch/>
        </p:blipFill>
        <p:spPr>
          <a:xfrm>
            <a:off x="35943" y="576887"/>
            <a:ext cx="8192451" cy="398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3"/>
          <p:cNvSpPr/>
          <p:nvPr/>
        </p:nvSpPr>
        <p:spPr>
          <a:xfrm>
            <a:off x="152400" y="64000"/>
            <a:ext cx="8900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ar" sz="2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Quantum model selection Criteria : Entanglement, Expressiveness, &amp; Time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8686800" y="4846320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ar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274320" y="4700016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lang="ar" sz="13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Entanglement Designs Tested: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274320" y="4149510"/>
            <a:ext cx="2011800" cy="347400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3"/>
          <p:cNvSpPr/>
          <p:nvPr/>
        </p:nvSpPr>
        <p:spPr>
          <a:xfrm>
            <a:off x="274320" y="4134856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a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VQC1: CNOT linear chain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2468880" y="4149510"/>
            <a:ext cx="2011800" cy="34740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3"/>
          <p:cNvSpPr/>
          <p:nvPr/>
        </p:nvSpPr>
        <p:spPr>
          <a:xfrm>
            <a:off x="2468880" y="4134856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a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VQC2: CRX linear chain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4663440" y="4149510"/>
            <a:ext cx="2011800" cy="3474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3"/>
          <p:cNvSpPr/>
          <p:nvPr/>
        </p:nvSpPr>
        <p:spPr>
          <a:xfrm>
            <a:off x="4663440" y="4134856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a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VQC3: CRX ring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6858000" y="4149510"/>
            <a:ext cx="2011800" cy="3474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3"/>
          <p:cNvSpPr/>
          <p:nvPr/>
        </p:nvSpPr>
        <p:spPr>
          <a:xfrm>
            <a:off x="6858000" y="4134856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a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VQC4: CRX all-to-all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27800"/>
            <a:ext cx="3620088" cy="34884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3" name="Google Shape;193;p23"/>
          <p:cNvGraphicFramePr/>
          <p:nvPr/>
        </p:nvGraphicFramePr>
        <p:xfrm>
          <a:off x="4232800" y="2042750"/>
          <a:ext cx="4591050" cy="1828845"/>
        </p:xfrm>
        <a:graphic>
          <a:graphicData uri="http://schemas.openxmlformats.org/drawingml/2006/table">
            <a:tbl>
              <a:tblPr>
                <a:noFill/>
                <a:tableStyleId>{516FFA47-0614-44FB-86FE-075D44433AB6}</a:tableStyleId>
              </a:tblPr>
              <a:tblGrid>
                <a:gridCol w="229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600" b="1">
                          <a:solidFill>
                            <a:schemeClr val="lt1"/>
                          </a:solidFill>
                        </a:rPr>
                        <a:t>Entanglement Design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600" b="1">
                          <a:solidFill>
                            <a:schemeClr val="lt1"/>
                          </a:solidFill>
                        </a:rPr>
                        <a:t>Relative Performance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600">
                          <a:solidFill>
                            <a:srgbClr val="292733"/>
                          </a:solidFill>
                        </a:rPr>
                        <a:t>NN (linear)</a:t>
                      </a:r>
                      <a:endParaRPr sz="1600">
                        <a:solidFill>
                          <a:srgbClr val="292733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600">
                          <a:solidFill>
                            <a:srgbClr val="292733"/>
                          </a:solidFill>
                        </a:rPr>
                        <a:t>Baseline</a:t>
                      </a:r>
                      <a:endParaRPr sz="1600">
                        <a:solidFill>
                          <a:srgbClr val="292733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600">
                          <a:solidFill>
                            <a:srgbClr val="292733"/>
                          </a:solidFill>
                        </a:rPr>
                        <a:t>Ring</a:t>
                      </a:r>
                      <a:endParaRPr sz="1600">
                        <a:solidFill>
                          <a:srgbClr val="292733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600">
                          <a:solidFill>
                            <a:srgbClr val="292733"/>
                          </a:solidFill>
                        </a:rPr>
                        <a:t>Improved</a:t>
                      </a:r>
                      <a:endParaRPr sz="1600">
                        <a:solidFill>
                          <a:srgbClr val="292733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600">
                          <a:solidFill>
                            <a:srgbClr val="292733"/>
                          </a:solidFill>
                        </a:rPr>
                        <a:t>All-to-all</a:t>
                      </a:r>
                      <a:endParaRPr sz="1600">
                        <a:solidFill>
                          <a:srgbClr val="292733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600">
                          <a:solidFill>
                            <a:srgbClr val="292733"/>
                          </a:solidFill>
                        </a:rPr>
                        <a:t>Best performance</a:t>
                      </a:r>
                      <a:endParaRPr sz="1600">
                        <a:solidFill>
                          <a:srgbClr val="292733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927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4" name="Google Shape;194;p23"/>
          <p:cNvSpPr/>
          <p:nvPr/>
        </p:nvSpPr>
        <p:spPr>
          <a:xfrm>
            <a:off x="4232875" y="627800"/>
            <a:ext cx="4591200" cy="12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libri"/>
              <a:buAutoNum type="arabicPeriod"/>
            </a:pPr>
            <a:r>
              <a:rPr lang="ar" sz="16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Preferring CRx as it shows high expressiveness, and entangling capabilities</a:t>
            </a:r>
            <a:endParaRPr sz="1600"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libri"/>
              <a:buAutoNum type="arabicPeriod"/>
            </a:pPr>
            <a:r>
              <a:rPr lang="ar" sz="16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Applying different entanglement Pattern</a:t>
            </a:r>
            <a:endParaRPr sz="1600"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libri"/>
              <a:buAutoNum type="arabicPeriod"/>
            </a:pPr>
            <a:r>
              <a:rPr lang="ar" sz="16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Considering computational time, using circuit depth of 1 layer. </a:t>
            </a:r>
            <a:endParaRPr sz="1600"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4"/>
          <p:cNvSpPr/>
          <p:nvPr/>
        </p:nvSpPr>
        <p:spPr>
          <a:xfrm>
            <a:off x="320040" y="64008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ar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Quantum VQC Architecture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ar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274320" y="658368"/>
            <a:ext cx="2743200" cy="384048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4"/>
          <p:cNvSpPr/>
          <p:nvPr/>
        </p:nvSpPr>
        <p:spPr>
          <a:xfrm>
            <a:off x="274320" y="658368"/>
            <a:ext cx="2743200" cy="475488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4"/>
          <p:cNvSpPr/>
          <p:nvPr/>
        </p:nvSpPr>
        <p:spPr>
          <a:xfrm>
            <a:off x="365760" y="70408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ar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Angle Encoding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411480" y="1207008"/>
            <a:ext cx="246888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92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Char char="•"/>
            </a:pPr>
            <a:r>
              <a:rPr lang="ar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 features → 10 qubits</a:t>
            </a:r>
            <a:endParaRPr sz="15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Char char="•"/>
            </a:pPr>
            <a:r>
              <a:rPr lang="ar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Map each feature xᵢ → RY(xᵢ) rotation</a:t>
            </a:r>
            <a:endParaRPr sz="15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Char char="•"/>
            </a:pPr>
            <a:r>
              <a:rPr lang="ar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|ψ_i⟩ = RY(x_i)|0⟩</a:t>
            </a:r>
            <a:endParaRPr sz="15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Char char="•"/>
            </a:pPr>
            <a:r>
              <a:rPr lang="ar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Puts data directly into qubit angles</a:t>
            </a:r>
            <a:endParaRPr sz="15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5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Char char="•"/>
            </a:pPr>
            <a:r>
              <a:rPr lang="ar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Simulated Using Pennylane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3017520" y="2240280"/>
            <a:ext cx="182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Calibri"/>
              <a:buNone/>
            </a:pPr>
            <a:r>
              <a:rPr lang="ar" sz="2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4"/>
          <p:cNvSpPr/>
          <p:nvPr/>
        </p:nvSpPr>
        <p:spPr>
          <a:xfrm>
            <a:off x="3200400" y="658368"/>
            <a:ext cx="2743200" cy="384048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4"/>
          <p:cNvSpPr/>
          <p:nvPr/>
        </p:nvSpPr>
        <p:spPr>
          <a:xfrm>
            <a:off x="3200400" y="658368"/>
            <a:ext cx="2743200" cy="475488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4"/>
          <p:cNvSpPr/>
          <p:nvPr/>
        </p:nvSpPr>
        <p:spPr>
          <a:xfrm>
            <a:off x="3291840" y="70408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ar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Variational Layer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3337560" y="1207008"/>
            <a:ext cx="246888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92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Char char="•"/>
            </a:pPr>
            <a:r>
              <a:rPr lang="ar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RY(θ) + RZ(θ) per qubit - trainable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Char char="•"/>
            </a:pPr>
            <a:r>
              <a:rPr lang="ar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Entangling gates connect qubits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Char char="•"/>
            </a:pPr>
            <a:r>
              <a:rPr lang="ar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 designs vary entanglement topology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Char char="•"/>
            </a:pPr>
            <a:r>
              <a:rPr lang="ar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Optimised via Adam (PennyLane)</a:t>
            </a:r>
            <a:endParaRPr sz="15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Char char="•"/>
            </a:pPr>
            <a:r>
              <a:rPr lang="ar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Lr=0.01, </a:t>
            </a:r>
            <a:endParaRPr sz="15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Char char="•"/>
            </a:pPr>
            <a:r>
              <a:rPr lang="ar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Mini-batch= 16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4"/>
          <p:cNvSpPr/>
          <p:nvPr/>
        </p:nvSpPr>
        <p:spPr>
          <a:xfrm>
            <a:off x="5943600" y="2240280"/>
            <a:ext cx="182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Calibri"/>
              <a:buNone/>
            </a:pPr>
            <a:r>
              <a:rPr lang="ar" sz="2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6126480" y="658368"/>
            <a:ext cx="2743200" cy="384048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4"/>
          <p:cNvSpPr/>
          <p:nvPr/>
        </p:nvSpPr>
        <p:spPr>
          <a:xfrm>
            <a:off x="6126480" y="658368"/>
            <a:ext cx="2743200" cy="47548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4"/>
          <p:cNvSpPr/>
          <p:nvPr/>
        </p:nvSpPr>
        <p:spPr>
          <a:xfrm>
            <a:off x="6217920" y="70408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ar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Measurement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6263650" y="1207000"/>
            <a:ext cx="2469000" cy="30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92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Char char="•"/>
            </a:pPr>
            <a:r>
              <a:rPr lang="ar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⟨PauliZ⟩ expectation on 3 qubits (3 classes)</a:t>
            </a:r>
            <a:endParaRPr sz="15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Char char="•"/>
            </a:pPr>
            <a:r>
              <a:rPr lang="ar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Softmax activation → 3-class probabilities</a:t>
            </a:r>
            <a:endParaRPr sz="15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Char char="•"/>
            </a:pPr>
            <a:r>
              <a:rPr lang="ar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Weighted cross entropy loss:: </a:t>
            </a:r>
            <a:endParaRPr sz="15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ar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     L = -Σ_k y_k log(p_k)</a:t>
            </a:r>
            <a:endParaRPr sz="15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Char char="•"/>
            </a:pPr>
            <a:r>
              <a:rPr lang="ar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Class weighting applied to handle dataset imbalance</a:t>
            </a:r>
            <a:endParaRPr sz="15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/>
          <p:nvPr/>
        </p:nvSpPr>
        <p:spPr>
          <a:xfrm>
            <a:off x="274320" y="4296048"/>
            <a:ext cx="2011680" cy="347472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4"/>
          <p:cNvSpPr/>
          <p:nvPr/>
        </p:nvSpPr>
        <p:spPr>
          <a:xfrm>
            <a:off x="274320" y="429604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a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VQC1: CNOT linear chain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2468880" y="4296048"/>
            <a:ext cx="2011680" cy="347472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4"/>
          <p:cNvSpPr/>
          <p:nvPr/>
        </p:nvSpPr>
        <p:spPr>
          <a:xfrm>
            <a:off x="2468880" y="429604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a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VQC2: CRX linear chain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4663440" y="4296048"/>
            <a:ext cx="2011680" cy="347472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4"/>
          <p:cNvSpPr/>
          <p:nvPr/>
        </p:nvSpPr>
        <p:spPr>
          <a:xfrm>
            <a:off x="4663440" y="429604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a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VQC3: CRX 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6858000" y="4296048"/>
            <a:ext cx="2011680" cy="347472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6858000" y="429604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a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VQC4: CRX all-to-all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5"/>
          <p:cNvSpPr/>
          <p:nvPr/>
        </p:nvSpPr>
        <p:spPr>
          <a:xfrm>
            <a:off x="320040" y="64008"/>
            <a:ext cx="8503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ar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Gates per VQC Model (10 qubits) with single variational layer:</a:t>
            </a:r>
            <a:endParaRPr sz="2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8686800" y="4846320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ar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3" name="Google Shape;233;p25"/>
          <p:cNvGraphicFramePr/>
          <p:nvPr/>
        </p:nvGraphicFramePr>
        <p:xfrm>
          <a:off x="251400" y="947025"/>
          <a:ext cx="8641100" cy="2021119"/>
        </p:xfrm>
        <a:graphic>
          <a:graphicData uri="http://schemas.openxmlformats.org/drawingml/2006/table">
            <a:tbl>
              <a:tblPr>
                <a:noFill/>
                <a:tableStyleId>{516FFA47-0614-44FB-86FE-075D44433AB6}</a:tableStyleId>
              </a:tblPr>
              <a:tblGrid>
                <a:gridCol w="102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4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3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 b="1">
                          <a:solidFill>
                            <a:schemeClr val="lt1"/>
                          </a:solidFill>
                        </a:rPr>
                        <a:t>Model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 b="1">
                          <a:solidFill>
                            <a:schemeClr val="lt1"/>
                          </a:solidFill>
                        </a:rPr>
                        <a:t>Encoding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 b="1">
                          <a:solidFill>
                            <a:schemeClr val="lt1"/>
                          </a:solidFill>
                        </a:rPr>
                        <a:t>Variational Rotations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 b="1">
                          <a:solidFill>
                            <a:schemeClr val="lt1"/>
                          </a:solidFill>
                        </a:rPr>
                        <a:t>Entanglement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 b="1">
                          <a:solidFill>
                            <a:schemeClr val="lt1"/>
                          </a:solidFill>
                        </a:rPr>
                        <a:t>Connectivity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 b="1">
                          <a:solidFill>
                            <a:schemeClr val="lt1"/>
                          </a:solidFill>
                        </a:rPr>
                        <a:t>Trainable Params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 b="1">
                          <a:solidFill>
                            <a:schemeClr val="lt1"/>
                          </a:solidFill>
                        </a:rPr>
                        <a:t>Total Gates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A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VQC1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10 RY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10 RY + 10 RZ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9 CNOT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Linear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30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39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VQC2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10 RY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10 RY + 10 RZ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9 CRX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Linear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30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39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VQC3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10 RY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10 RY + 10 RZ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10 CRX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Ring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30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40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VQC4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10 RY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10 RY + 10 RZ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45 CRX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All-to-All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30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500"/>
                        <a:t>75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6"/>
          <p:cNvSpPr/>
          <p:nvPr/>
        </p:nvSpPr>
        <p:spPr>
          <a:xfrm>
            <a:off x="320040" y="64008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ar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Quantum VQC Results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6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ar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2" name="Google Shape;242;p26"/>
          <p:cNvGraphicFramePr/>
          <p:nvPr/>
        </p:nvGraphicFramePr>
        <p:xfrm>
          <a:off x="103070" y="593643"/>
          <a:ext cx="8937850" cy="2031558"/>
        </p:xfrm>
        <a:graphic>
          <a:graphicData uri="http://schemas.openxmlformats.org/drawingml/2006/table">
            <a:tbl>
              <a:tblPr>
                <a:noFill/>
                <a:tableStyleId>{516FFA47-0614-44FB-86FE-075D44433AB6}</a:tableStyleId>
              </a:tblPr>
              <a:tblGrid>
                <a:gridCol w="156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1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1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5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300" b="1">
                          <a:solidFill>
                            <a:schemeClr val="lt1"/>
                          </a:solidFill>
                        </a:rPr>
                        <a:t>Model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95250" marR="9525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300" b="1">
                          <a:solidFill>
                            <a:schemeClr val="lt1"/>
                          </a:solidFill>
                        </a:rPr>
                        <a:t>Accuracy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95250" marR="9525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300" b="1">
                          <a:solidFill>
                            <a:schemeClr val="lt1"/>
                          </a:solidFill>
                        </a:rPr>
                        <a:t>F1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95250" marR="9525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300" b="1">
                          <a:solidFill>
                            <a:schemeClr val="lt1"/>
                          </a:solidFill>
                        </a:rPr>
                        <a:t>AUC-ROC</a:t>
                      </a:r>
                      <a:endParaRPr sz="13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0" marR="9525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300" b="1">
                          <a:solidFill>
                            <a:schemeClr val="lt1"/>
                          </a:solidFill>
                        </a:rPr>
                        <a:t>CV Acc (mean ± std)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95250" marR="9525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300" b="1">
                          <a:solidFill>
                            <a:schemeClr val="lt1"/>
                          </a:solidFill>
                        </a:rPr>
                        <a:t>Best loss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95250" marR="9525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300" b="1">
                          <a:solidFill>
                            <a:schemeClr val="lt1"/>
                          </a:solidFill>
                        </a:rPr>
                        <a:t>Train time (s)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95250" marR="9525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A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VQC1 - CNOT linear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0.2034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0.1882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0.5138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0.4015 </a:t>
                      </a:r>
                      <a:r>
                        <a:rPr lang="ar" sz="1050">
                          <a:solidFill>
                            <a:schemeClr val="dk1"/>
                          </a:solidFill>
                        </a:rPr>
                        <a:t>± 0.0740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1.0212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670.7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VQC2 - CRX linear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0.3390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0.3998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0.4953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0.4711 </a:t>
                      </a:r>
                      <a:r>
                        <a:rPr lang="ar" sz="1050">
                          <a:solidFill>
                            <a:schemeClr val="dk1"/>
                          </a:solidFill>
                        </a:rPr>
                        <a:t>± 0.0625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0.9728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652.1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VQC3 - CRX ring</a:t>
                      </a:r>
                      <a:endParaRPr sz="950">
                        <a:solidFill>
                          <a:schemeClr val="dk1"/>
                        </a:solidFill>
                        <a:highlight>
                          <a:srgbClr val="1B4614"/>
                        </a:highlight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0.5254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0.5250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0.6953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0.4490 </a:t>
                      </a:r>
                      <a:r>
                        <a:rPr lang="ar" sz="1050">
                          <a:solidFill>
                            <a:schemeClr val="dk1"/>
                          </a:solidFill>
                        </a:rPr>
                        <a:t>± 0.0396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0.9914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839.1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VQC4 - CRX all-all</a:t>
                      </a:r>
                      <a:endParaRPr sz="950">
                        <a:solidFill>
                          <a:schemeClr val="dk1"/>
                        </a:solidFill>
                        <a:highlight>
                          <a:srgbClr val="483A0F"/>
                        </a:highlight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0.3898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0.4406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0.5891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0.4808 </a:t>
                      </a:r>
                      <a:r>
                        <a:rPr lang="ar" sz="1050">
                          <a:solidFill>
                            <a:schemeClr val="dk1"/>
                          </a:solidFill>
                        </a:rPr>
                        <a:t>± 0.0264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0.9512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200">
                          <a:solidFill>
                            <a:schemeClr val="dk1"/>
                          </a:solidFill>
                        </a:rPr>
                        <a:t>6510.51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85725" marB="857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43" name="Google Shape;2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8699" y="2947475"/>
            <a:ext cx="2226950" cy="1978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8200" y="3006012"/>
            <a:ext cx="2095177" cy="186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1921" y="3087436"/>
            <a:ext cx="1911825" cy="169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6175" y="3110114"/>
            <a:ext cx="1860725" cy="165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7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7"/>
          <p:cNvSpPr/>
          <p:nvPr/>
        </p:nvSpPr>
        <p:spPr>
          <a:xfrm>
            <a:off x="320040" y="64008"/>
            <a:ext cx="8503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ar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Tuned VQC4 (CRX All-to-All) with 3 layers, changeable Lr, more epochs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8686800" y="4846320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ar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900" y="600675"/>
            <a:ext cx="8392950" cy="277885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7"/>
          <p:cNvSpPr/>
          <p:nvPr/>
        </p:nvSpPr>
        <p:spPr>
          <a:xfrm>
            <a:off x="68800" y="3477400"/>
            <a:ext cx="9006300" cy="16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238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ar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trainable block closes with 45 trainable CRX (Controlled-RX) gates applied to every unique qubit pair, creating full all-to-all entanglement across the register. 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238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ar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the full model, this layer is repeated 3 times with data re-uploading at each repetition, giving the circuit richer expressibility without increasing the qubit count. 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238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ar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final measurement takes the Pauli-Z expectation value on qubits 0, 1, and 2, producing three continuous outputs that are passed to a softmax for 3-class classification. Total trainable parameters: 195 (65 per layer × 3 layers).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8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8"/>
          <p:cNvSpPr/>
          <p:nvPr/>
        </p:nvSpPr>
        <p:spPr>
          <a:xfrm>
            <a:off x="320040" y="64008"/>
            <a:ext cx="8503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ar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Tuned VQC4 (CRX All-to-All) Pending Results: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8686800" y="4846320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ar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4482050" y="1003375"/>
            <a:ext cx="4445100" cy="26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ar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77.78% CV accuracy already outperform every completed VQC and is closing the gap with classical models like KNN (88.21% CV) 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ar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consistent accuracy across folds 1 &amp; 2 (exactly 0.7460) suggests stable learning.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6" name="Google Shape;266;p28"/>
          <p:cNvPicPr preferRelativeResize="0"/>
          <p:nvPr/>
        </p:nvPicPr>
        <p:blipFill rotWithShape="1">
          <a:blip r:embed="rId3">
            <a:alphaModFix/>
          </a:blip>
          <a:srcRect b="72122"/>
          <a:stretch/>
        </p:blipFill>
        <p:spPr>
          <a:xfrm>
            <a:off x="949067" y="884425"/>
            <a:ext cx="3336524" cy="1010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8"/>
          <p:cNvPicPr preferRelativeResize="0"/>
          <p:nvPr/>
        </p:nvPicPr>
        <p:blipFill rotWithShape="1">
          <a:blip r:embed="rId4">
            <a:alphaModFix/>
          </a:blip>
          <a:srcRect t="74845"/>
          <a:stretch/>
        </p:blipFill>
        <p:spPr>
          <a:xfrm>
            <a:off x="949075" y="2016145"/>
            <a:ext cx="3396974" cy="64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8"/>
          <p:cNvPicPr preferRelativeResize="0"/>
          <p:nvPr/>
        </p:nvPicPr>
        <p:blipFill rotWithShape="1">
          <a:blip r:embed="rId5">
            <a:alphaModFix/>
          </a:blip>
          <a:srcRect t="25440" r="3129"/>
          <a:stretch/>
        </p:blipFill>
        <p:spPr>
          <a:xfrm>
            <a:off x="949075" y="2797081"/>
            <a:ext cx="3396975" cy="5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9075" y="3503825"/>
            <a:ext cx="3396975" cy="79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9"/>
          <p:cNvSpPr/>
          <p:nvPr/>
        </p:nvSpPr>
        <p:spPr>
          <a:xfrm>
            <a:off x="320040" y="64008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ar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Classical vs Quantum — Why Quantum Matters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700" y="779450"/>
            <a:ext cx="6408054" cy="75826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 txBox="1"/>
          <p:nvPr/>
        </p:nvSpPr>
        <p:spPr>
          <a:xfrm>
            <a:off x="190475" y="1658625"/>
            <a:ext cx="88053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" b="1">
                <a:solidFill>
                  <a:schemeClr val="dk1"/>
                </a:solidFill>
              </a:rPr>
              <a:t>Performance gap is large but expected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">
                <a:solidFill>
                  <a:schemeClr val="dk1"/>
                </a:solidFill>
              </a:rPr>
              <a:t>Classical models outperform all quantum models by 40+ percentage points. This is consistent with NISQ-era expectations.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b="1"/>
              <a:t>Entanglement topology matters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VQC3 (ring) outperforms both the linear chain (VQC2) and the full all-to-all (VQC4) on test accuracy. This suggests that richer connectivity doesn't always help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b="1"/>
              <a:t>Tuned VQC early results are highly promising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The tuned VQC4 variant (VQC5) shows 74.6% CV accuracy in early folds — a 22pp jump over VQC3 and narrowing the gap with classical models to ~19pp.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b="1"/>
              <a:t>Training cost is a major constraint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VQC4 took ~6511 s (~1.8 hrs) vs under 8 s for any classical model. The all-to-all entanglement (45 CRX gates) makes simulation expensive on CPU.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0"/>
          <p:cNvSpPr/>
          <p:nvPr/>
        </p:nvSpPr>
        <p:spPr>
          <a:xfrm>
            <a:off x="320040" y="64008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ar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Analysis &amp; Future Work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ar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0"/>
          <p:cNvSpPr/>
          <p:nvPr/>
        </p:nvSpPr>
        <p:spPr>
          <a:xfrm>
            <a:off x="274320" y="658368"/>
            <a:ext cx="4114800" cy="420624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0"/>
          <p:cNvSpPr/>
          <p:nvPr/>
        </p:nvSpPr>
        <p:spPr>
          <a:xfrm>
            <a:off x="274320" y="658368"/>
            <a:ext cx="64008" cy="420624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0"/>
          <p:cNvSpPr/>
          <p:nvPr/>
        </p:nvSpPr>
        <p:spPr>
          <a:xfrm>
            <a:off x="502920" y="74980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ar" sz="15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💼  Business Value in Healthcare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135331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0"/>
          <p:cNvSpPr/>
          <p:nvPr/>
        </p:nvSpPr>
        <p:spPr>
          <a:xfrm>
            <a:off x="960120" y="129844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lang="ar" sz="13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Screening Tool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0"/>
          <p:cNvSpPr/>
          <p:nvPr/>
        </p:nvSpPr>
        <p:spPr>
          <a:xfrm>
            <a:off x="960120" y="1554480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ar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Deploy in radiology clinics using existing MRI infrastructure — no new hardware needed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3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220370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0"/>
          <p:cNvSpPr/>
          <p:nvPr/>
        </p:nvSpPr>
        <p:spPr>
          <a:xfrm>
            <a:off x="960120" y="214884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lang="ar" sz="13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Cost Reduction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0"/>
          <p:cNvSpPr/>
          <p:nvPr/>
        </p:nvSpPr>
        <p:spPr>
          <a:xfrm>
            <a:off x="960120" y="2404872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ar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Early diagnosis cuts long-term care costs by up to 40% per patient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3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" y="305409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0"/>
          <p:cNvSpPr/>
          <p:nvPr/>
        </p:nvSpPr>
        <p:spPr>
          <a:xfrm>
            <a:off x="960120" y="299923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lang="ar" sz="13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Clinical ROI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0"/>
          <p:cNvSpPr/>
          <p:nvPr/>
        </p:nvSpPr>
        <p:spPr>
          <a:xfrm>
            <a:off x="960120" y="3255264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ar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Converted group detection = highest value — catch patients before dementia onset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3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2920" y="390448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0"/>
          <p:cNvSpPr/>
          <p:nvPr/>
        </p:nvSpPr>
        <p:spPr>
          <a:xfrm>
            <a:off x="960120" y="384962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lang="ar" sz="13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Future-proof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0"/>
          <p:cNvSpPr/>
          <p:nvPr/>
        </p:nvSpPr>
        <p:spPr>
          <a:xfrm>
            <a:off x="960120" y="4105656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ar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Quantum pipeline ready for quantum-enabled hospital infrastructure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0"/>
          <p:cNvSpPr/>
          <p:nvPr/>
        </p:nvSpPr>
        <p:spPr>
          <a:xfrm>
            <a:off x="4617720" y="658368"/>
            <a:ext cx="4114800" cy="420624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0"/>
          <p:cNvSpPr/>
          <p:nvPr/>
        </p:nvSpPr>
        <p:spPr>
          <a:xfrm>
            <a:off x="4617720" y="658368"/>
            <a:ext cx="64008" cy="420624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30"/>
          <p:cNvSpPr/>
          <p:nvPr/>
        </p:nvSpPr>
        <p:spPr>
          <a:xfrm>
            <a:off x="4846320" y="74980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ar" sz="15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🔬  Future Work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0"/>
          <p:cNvSpPr/>
          <p:nvPr/>
        </p:nvSpPr>
        <p:spPr>
          <a:xfrm>
            <a:off x="4846320" y="1207008"/>
            <a:ext cx="36576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lang="ar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Deeper VQC: add more variational layers for richer feature representations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lang="ar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Softmax output layer for true class probabilities &amp; better AUC-ROC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lang="ar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Run on real quantum hardware (IBM Quantum / IonQ) to validate simulation results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lang="ar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Extend to 3D MRI scans with quantum-enhanced CNN feature extraction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0" y="27432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1"/>
          <p:cNvSpPr/>
          <p:nvPr/>
        </p:nvSpPr>
        <p:spPr>
          <a:xfrm>
            <a:off x="457200" y="274320"/>
            <a:ext cx="71323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ar" sz="3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1"/>
          <p:cNvSpPr/>
          <p:nvPr/>
        </p:nvSpPr>
        <p:spPr>
          <a:xfrm>
            <a:off x="365760" y="1051560"/>
            <a:ext cx="8412480" cy="804672"/>
          </a:xfrm>
          <a:prstGeom prst="rect">
            <a:avLst/>
          </a:prstGeom>
          <a:solidFill>
            <a:srgbClr val="FFFFFF">
              <a:alpha val="12156"/>
            </a:srgbClr>
          </a:solidFill>
          <a:ln w="9525" cap="flat" cmpd="sng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4" name="Google Shape;314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1234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1"/>
          <p:cNvSpPr/>
          <p:nvPr/>
        </p:nvSpPr>
        <p:spPr>
          <a:xfrm>
            <a:off x="1051560" y="1161288"/>
            <a:ext cx="7498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ar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Gradient Boosting achieved 93.3% accuracy — best classical model for dementia early detection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365760" y="1993392"/>
            <a:ext cx="8412480" cy="804672"/>
          </a:xfrm>
          <a:prstGeom prst="rect">
            <a:avLst/>
          </a:prstGeom>
          <a:solidFill>
            <a:srgbClr val="FFFFFF">
              <a:alpha val="12156"/>
            </a:srgbClr>
          </a:solidFill>
          <a:ln w="9525" cap="flat" cmpd="sng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7" name="Google Shape;317;p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" y="21762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1"/>
          <p:cNvSpPr/>
          <p:nvPr/>
        </p:nvSpPr>
        <p:spPr>
          <a:xfrm>
            <a:off x="1051560" y="2103120"/>
            <a:ext cx="7498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ar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VQC2 (CRX linear chain) reached 55.9% — trainable entanglement is the key quantum design choice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365760" y="2935224"/>
            <a:ext cx="8412480" cy="804672"/>
          </a:xfrm>
          <a:prstGeom prst="rect">
            <a:avLst/>
          </a:prstGeom>
          <a:solidFill>
            <a:srgbClr val="FFFFFF">
              <a:alpha val="12156"/>
            </a:srgbClr>
          </a:solidFill>
          <a:ln w="9525" cap="flat" cmpd="sng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0" name="Google Shape;320;p3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2920" y="3118104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1"/>
          <p:cNvSpPr/>
          <p:nvPr/>
        </p:nvSpPr>
        <p:spPr>
          <a:xfrm>
            <a:off x="1051560" y="3044952"/>
            <a:ext cx="7498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ar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Classical wins today, but quantum VQCs scale differently — advantage grows with data dimensionality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1"/>
          <p:cNvSpPr/>
          <p:nvPr/>
        </p:nvSpPr>
        <p:spPr>
          <a:xfrm>
            <a:off x="365760" y="3877056"/>
            <a:ext cx="8412480" cy="804672"/>
          </a:xfrm>
          <a:prstGeom prst="rect">
            <a:avLst/>
          </a:prstGeom>
          <a:solidFill>
            <a:srgbClr val="FFFFFF">
              <a:alpha val="12156"/>
            </a:srgbClr>
          </a:solidFill>
          <a:ln w="9525" cap="flat" cmpd="sng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3" name="Google Shape;323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2920" y="4059936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1"/>
          <p:cNvSpPr/>
          <p:nvPr/>
        </p:nvSpPr>
        <p:spPr>
          <a:xfrm>
            <a:off x="1051560" y="3986784"/>
            <a:ext cx="7498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ar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CDR and MMSE are the strongest predictors — clinically aligned, interpretable, and business-ready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ar" sz="1300" i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Team Beta  ·  Mentor: Dr. Maha Metawe  ·  Thank you — Questions Welcome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1305</Words>
  <Application>Microsoft Office PowerPoint</Application>
  <PresentationFormat>On-screen Show (16:9)</PresentationFormat>
  <Paragraphs>306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Helvetica Neue</vt:lpstr>
      <vt:lpstr>Times New Roman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Enas Emad</cp:lastModifiedBy>
  <cp:revision>1</cp:revision>
  <dcterms:modified xsi:type="dcterms:W3CDTF">2026-05-20T11:38:25Z</dcterms:modified>
</cp:coreProperties>
</file>