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2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65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2194560"/>
            <a:ext cx="1219169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500" dirty="0">
                <a:solidFill>
                  <a:srgbClr val="E89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QUANTUM HACKATHON 2026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998568" y="2606040"/>
            <a:ext cx="2194560" cy="0"/>
          </a:xfrm>
          <a:prstGeom prst="line">
            <a:avLst/>
          </a:prstGeom>
          <a:noFill/>
          <a:ln w="25400">
            <a:solidFill>
              <a:srgbClr val="5B9B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0" y="2743200"/>
            <a:ext cx="12191695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kern="0" spc="200" dirty="0">
                <a:solidFill>
                  <a:srgbClr val="E8EB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QUANTUM KEY DISTRIBUTION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0" y="3611880"/>
            <a:ext cx="12191695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i="1" dirty="0">
                <a:solidFill>
                  <a:srgbClr val="5B9B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BB84 &amp; E91  ·  Built on Qiskit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998568" y="4343400"/>
            <a:ext cx="2194560" cy="0"/>
          </a:xfrm>
          <a:prstGeom prst="line">
            <a:avLst/>
          </a:prstGeom>
          <a:noFill/>
          <a:ln w="25400">
            <a:solidFill>
              <a:srgbClr val="5B9B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0" y="4480560"/>
            <a:ext cx="1219169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9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Complete End-to-End Implementation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815688" y="5074920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1A2030">
              <a:alpha val="80000"/>
            </a:srgbClr>
          </a:solidFill>
          <a:ln w="12700">
            <a:solidFill>
              <a:srgbClr val="5B9B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15688" y="507492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500" dirty="0">
                <a:solidFill>
                  <a:srgbClr val="5B9B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QISKIT  ·  PYTHON 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8892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AGENDA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73152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E8EB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Table of Contents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1277295" cy="0"/>
          </a:xfrm>
          <a:prstGeom prst="line">
            <a:avLst/>
          </a:prstGeom>
          <a:noFill/>
          <a:ln w="12700">
            <a:solidFill>
              <a:srgbClr val="2A33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5303520" cy="2286000"/>
          </a:xfrm>
          <a:prstGeom prst="rect">
            <a:avLst/>
          </a:prstGeom>
          <a:solidFill>
            <a:srgbClr val="1A2030"/>
          </a:solidFill>
          <a:ln w="12700">
            <a:solidFill>
              <a:srgbClr val="2A33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1828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5B9B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8EB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Overview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3291840"/>
            <a:ext cx="46634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2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Architecture, file structure, and how we wired Qiskit into a modular QKD simulation suite.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78728" y="1920240"/>
            <a:ext cx="5303520" cy="2286000"/>
          </a:xfrm>
          <a:prstGeom prst="rect">
            <a:avLst/>
          </a:prstGeom>
          <a:solidFill>
            <a:srgbClr val="1A2030"/>
          </a:solidFill>
          <a:ln w="12700">
            <a:solidFill>
              <a:srgbClr val="2A33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98768" y="2148840"/>
            <a:ext cx="1828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5B9B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598768" y="278892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8EB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Three Pillars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598768" y="3291840"/>
            <a:ext cx="46634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2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Exchange, Eavesdrop Detection, and Secret Key Distillation - the foundations of QKD.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389120"/>
            <a:ext cx="5303520" cy="2286000"/>
          </a:xfrm>
          <a:prstGeom prst="rect">
            <a:avLst/>
          </a:prstGeom>
          <a:solidFill>
            <a:srgbClr val="1A2030"/>
          </a:solidFill>
          <a:ln w="12700">
            <a:solidFill>
              <a:srgbClr val="2A33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4617720"/>
            <a:ext cx="1828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5B9B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777240" y="525780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8EB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 Deep Dive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77240" y="5760720"/>
            <a:ext cx="46634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2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quantum.py primitives, BB84 and E91 implementations, and the cryptographic post-processing pipeline.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78728" y="4389120"/>
            <a:ext cx="5303520" cy="2286000"/>
          </a:xfrm>
          <a:prstGeom prst="rect">
            <a:avLst/>
          </a:prstGeom>
          <a:solidFill>
            <a:srgbClr val="1A2030"/>
          </a:solidFill>
          <a:ln w="12700">
            <a:solidFill>
              <a:srgbClr val="2A33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98768" y="4617720"/>
            <a:ext cx="1828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5B9B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598768" y="525780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8EB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 &amp; Output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598768" y="5760720"/>
            <a:ext cx="46634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2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Experimental data, protocol comparison, and security parameters from end-to-end runs.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newdeck/section_bg_1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553048" y="0"/>
            <a:ext cx="5638648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53048" y="0"/>
            <a:ext cx="1371600" cy="6858000"/>
          </a:xfrm>
          <a:prstGeom prst="rect">
            <a:avLst/>
          </a:prstGeom>
          <a:solidFill>
            <a:srgbClr val="0E1117">
              <a:alpha val="7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731520" y="2286000"/>
            <a:ext cx="2743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dirty="0">
                <a:solidFill>
                  <a:srgbClr val="5B9B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5600" dirty="0"/>
          </a:p>
        </p:txBody>
      </p:sp>
      <p:sp>
        <p:nvSpPr>
          <p:cNvPr id="5" name="Shape 2"/>
          <p:cNvSpPr/>
          <p:nvPr/>
        </p:nvSpPr>
        <p:spPr>
          <a:xfrm>
            <a:off x="731520" y="3291840"/>
            <a:ext cx="1371600" cy="0"/>
          </a:xfrm>
          <a:prstGeom prst="line">
            <a:avLst/>
          </a:prstGeom>
          <a:noFill/>
          <a:ln w="25400">
            <a:solidFill>
              <a:srgbClr val="5B9B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31520" y="3520440"/>
            <a:ext cx="5029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E8EB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731520" y="4251960"/>
            <a:ext cx="50292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892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Architecture, file structure, and the modular design of our Qiskit-based QKD simulation suite.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A0D14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B9B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 PROJECT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E8EB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We Built - QKD Simulation Suite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1277295" cy="0"/>
          </a:xfrm>
          <a:prstGeom prst="line">
            <a:avLst/>
          </a:prstGeom>
          <a:noFill/>
          <a:ln w="12700">
            <a:solidFill>
              <a:srgbClr val="2A33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4D9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complete Python implementation of two Quantum Key Distribution protocols - BB84 (prepare-and-measure) and E91 (entanglement-based) - using real Qiskit circuits for every quantum operation. Covers all three pillars plus stretch goals.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457200" y="2286000"/>
          <a:ext cx="11277295" cy="2560320"/>
        </p:xfrm>
        <a:graphic>
          <a:graphicData uri="http://schemas.openxmlformats.org/drawingml/2006/table">
            <a:tbl>
              <a:tblPr/>
              <a:tblGrid>
                <a:gridCol w="1645920"/>
                <a:gridCol w="3200400"/>
                <a:gridCol w="6430975"/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8EBE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File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8EBE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Description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8EBE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Key Components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9BF8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quantum.py</a:t>
                      </a:r>
                      <a:endParaRPr lang="en-US" sz="11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D9E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Qiskit primitives - real quantum circuits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D9E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Statevector, QuantumCircuit, H/X/CX/Ry gates, Bell pairs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9BF8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bb84.py</a:t>
                      </a:r>
                      <a:endParaRPr lang="en-US" sz="11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D9E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BB84 prepare-and-measure protocol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D9E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Encode → channel → measure pipeline, 3-pillar logic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9BF8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e91.py</a:t>
                      </a:r>
                      <a:endParaRPr lang="en-US" sz="11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D9E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E91 entanglement-based protocol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D9E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Bell pair measurement, CHSH violation test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9BF8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utils.py</a:t>
                      </a:r>
                      <a:endParaRPr lang="en-US" sz="11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D9E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Cryptographic post-processing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D9E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Bit generation, QBER, sifting, Cascade, privacy amp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9BF8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main.py</a:t>
                      </a:r>
                      <a:endParaRPr lang="en-US" sz="11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D9E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7-scenario demo orchestrator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D9E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All pillars + stretch goals in one run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9BF8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requirements.txt</a:t>
                      </a:r>
                      <a:endParaRPr lang="en-US" sz="1100" dirty="0">
                        <a:latin typeface="Consolas" panose="020B0609020204030204" pitchFamily="34" charset="0"/>
                        <a:ea typeface="Consolas" panose="020B0609020204030204" pitchFamily="34" charset="0"/>
                        <a:cs typeface="Consolas" panose="020B0609020204030204" pitchFamily="34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D9E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Dependencies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D9E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qiskit, numpy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512064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8892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METRICS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5440680"/>
            <a:ext cx="2697480" cy="960120"/>
          </a:xfrm>
          <a:prstGeom prst="rect">
            <a:avLst/>
          </a:prstGeom>
          <a:solidFill>
            <a:srgbClr val="1A2030"/>
          </a:solidFill>
          <a:ln w="12700">
            <a:solidFill>
              <a:srgbClr val="2A33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57200" y="5532120"/>
            <a:ext cx="2697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5B9B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457200" y="5989320"/>
            <a:ext cx="2697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QKD Protocols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46120" y="5440680"/>
            <a:ext cx="2697480" cy="960120"/>
          </a:xfrm>
          <a:prstGeom prst="rect">
            <a:avLst/>
          </a:prstGeom>
          <a:solidFill>
            <a:srgbClr val="1A2030"/>
          </a:solidFill>
          <a:ln w="12700">
            <a:solidFill>
              <a:srgbClr val="2A33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246120" y="5532120"/>
            <a:ext cx="2697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5B9B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3246120" y="5989320"/>
            <a:ext cx="2697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Modules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035040" y="5440680"/>
            <a:ext cx="2697480" cy="960120"/>
          </a:xfrm>
          <a:prstGeom prst="rect">
            <a:avLst/>
          </a:prstGeom>
          <a:solidFill>
            <a:srgbClr val="1A2030"/>
          </a:solidFill>
          <a:ln w="12700">
            <a:solidFill>
              <a:srgbClr val="2A33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035040" y="5532120"/>
            <a:ext cx="2697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5B9B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6035040" y="5989320"/>
            <a:ext cx="2697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 Scenarios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823960" y="5440680"/>
            <a:ext cx="2697480" cy="960120"/>
          </a:xfrm>
          <a:prstGeom prst="rect">
            <a:avLst/>
          </a:prstGeom>
          <a:solidFill>
            <a:srgbClr val="1A2030"/>
          </a:solidFill>
          <a:ln w="12700">
            <a:solidFill>
              <a:srgbClr val="2A33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823960" y="5532120"/>
            <a:ext cx="2697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E89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100%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8823960" y="5989320"/>
            <a:ext cx="2697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Pillars + Stretch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1643055" y="653796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C75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A0D14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B9B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 PROJECT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E8EB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Architecture &amp; Dependencies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1277295" cy="0"/>
          </a:xfrm>
          <a:prstGeom prst="line">
            <a:avLst/>
          </a:prstGeom>
          <a:noFill/>
          <a:ln w="12700">
            <a:solidFill>
              <a:srgbClr val="2A33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2377440" cy="2743200"/>
          </a:xfrm>
          <a:prstGeom prst="rect">
            <a:avLst/>
          </a:prstGeom>
          <a:solidFill>
            <a:srgbClr val="1A2030"/>
          </a:solidFill>
          <a:ln w="25400">
            <a:solidFill>
              <a:srgbClr val="5B9B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9B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quantum.py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92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Qiskit primitives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560320"/>
            <a:ext cx="2011680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4D9E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bb84_prepare_and_measure()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9E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bell_pair_measure()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892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QuantumCircuit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892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Statevector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892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 · X · CX · Ry gates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108960" y="1691640"/>
            <a:ext cx="2194560" cy="2743200"/>
          </a:xfrm>
          <a:prstGeom prst="rect">
            <a:avLst/>
          </a:prstGeom>
          <a:solidFill>
            <a:srgbClr val="1A2030"/>
          </a:solidFill>
          <a:ln w="12700">
            <a:solidFill>
              <a:srgbClr val="2A33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108960" y="18288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9B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utils.py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108960" y="219456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92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Crypto primitives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91840" y="2560320"/>
            <a:ext cx="1828800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4D9E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random_bits()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9E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random_bases()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9E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calculate_qber()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9E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sift()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9E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reconcile()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9E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privacy_amplify()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577840" y="1691640"/>
            <a:ext cx="2377440" cy="1234440"/>
          </a:xfrm>
          <a:prstGeom prst="rect">
            <a:avLst/>
          </a:prstGeom>
          <a:solidFill>
            <a:srgbClr val="1A2030"/>
          </a:solidFill>
          <a:ln w="12700">
            <a:solidFill>
              <a:srgbClr val="2A33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577840" y="182880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EBE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bb84.py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577840" y="219456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Prepare-and-measure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760720" y="246888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4D9E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class BB84:  .run()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577840" y="3017520"/>
            <a:ext cx="2377440" cy="1417320"/>
          </a:xfrm>
          <a:prstGeom prst="rect">
            <a:avLst/>
          </a:prstGeom>
          <a:solidFill>
            <a:srgbClr val="1A2030"/>
          </a:solidFill>
          <a:ln w="12700">
            <a:solidFill>
              <a:srgbClr val="2A33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577840" y="315468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EBE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e91.py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577840" y="352044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Entanglement-based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60720" y="379476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4D9E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class E91:  .run()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229600" y="1691640"/>
            <a:ext cx="3504895" cy="2743200"/>
          </a:xfrm>
          <a:prstGeom prst="rect">
            <a:avLst/>
          </a:prstGeom>
          <a:solidFill>
            <a:srgbClr val="1A2030"/>
          </a:solidFill>
          <a:ln w="25400">
            <a:solidFill>
              <a:srgbClr val="E89B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229600" y="1828800"/>
            <a:ext cx="350489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9B3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main.py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0" y="2194560"/>
            <a:ext cx="350489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92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 test scenarios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412480" y="2560320"/>
            <a:ext cx="3139135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4D9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Pillar 1 - clean BB84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9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Pillar 2 - Eve detection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9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Pillar 2 - QBER sweep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9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Stretch - noisy channel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9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Stretch - E91 + CHSH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9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Stretch - comparison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880360" y="2971800"/>
            <a:ext cx="182880" cy="182880"/>
          </a:xfrm>
          <a:prstGeom prst="rightArrow">
            <a:avLst/>
          </a:prstGeom>
          <a:solidFill>
            <a:srgbClr val="6C7585"/>
          </a:solidFill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349240" y="2971800"/>
            <a:ext cx="182880" cy="182880"/>
          </a:xfrm>
          <a:prstGeom prst="rightArrow">
            <a:avLst/>
          </a:prstGeom>
          <a:solidFill>
            <a:srgbClr val="6C7585"/>
          </a:solidFill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001000" y="2971800"/>
            <a:ext cx="182880" cy="182880"/>
          </a:xfrm>
          <a:prstGeom prst="rightArrow">
            <a:avLst/>
          </a:prstGeom>
          <a:solidFill>
            <a:srgbClr val="6C7585"/>
          </a:solidFill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7200" y="4663440"/>
            <a:ext cx="1127729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8EB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 Principles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457200" y="5166360"/>
            <a:ext cx="11277295" cy="0"/>
          </a:xfrm>
          <a:prstGeom prst="line">
            <a:avLst/>
          </a:prstGeom>
          <a:noFill/>
          <a:ln w="12700">
            <a:solidFill>
              <a:srgbClr val="2A33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57200" y="5349240"/>
            <a:ext cx="550148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9B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 Qiskit Circuits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57200" y="5715000"/>
            <a:ext cx="5501488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D9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quantum operation - qubit prep, basis rotation, measurement, Bell-pair generation - uses Qiskit's QuantumCircuit and Statevector. Re-targetable to real QPU hardware.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33008" y="5349240"/>
            <a:ext cx="550148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9B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Modular Architecture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233008" y="5715000"/>
            <a:ext cx="5501488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D9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Quantum primitives in quantum.py, crypto in utils.py, protocols in bb84.py/e91.py. Both protocols reuse the same sifting, Cascade, and amplification pipeline.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1643055" y="653796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C75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newdeck/section_bg_1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553048" y="0"/>
            <a:ext cx="5638648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53048" y="0"/>
            <a:ext cx="1371600" cy="6858000"/>
          </a:xfrm>
          <a:prstGeom prst="rect">
            <a:avLst/>
          </a:prstGeom>
          <a:solidFill>
            <a:srgbClr val="0E1117">
              <a:alpha val="7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731520" y="2286000"/>
            <a:ext cx="2743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dirty="0">
                <a:solidFill>
                  <a:srgbClr val="5B9B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5600" dirty="0"/>
          </a:p>
        </p:txBody>
      </p:sp>
      <p:sp>
        <p:nvSpPr>
          <p:cNvPr id="5" name="Shape 2"/>
          <p:cNvSpPr/>
          <p:nvPr/>
        </p:nvSpPr>
        <p:spPr>
          <a:xfrm>
            <a:off x="731520" y="3291840"/>
            <a:ext cx="1371600" cy="0"/>
          </a:xfrm>
          <a:prstGeom prst="line">
            <a:avLst/>
          </a:prstGeom>
          <a:noFill/>
          <a:ln w="25400">
            <a:solidFill>
              <a:srgbClr val="5B9B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31520" y="3520440"/>
            <a:ext cx="5029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E8EB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Three Pillars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731520" y="4251960"/>
            <a:ext cx="50292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892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Exchange, Eavesdrop Detection, and Secret Key Distillation - the foundational framework of every QKD protocol.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A0D14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B9B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 THE THREE PILLARS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E8EB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Pillar 1 - Quantum Key Exchange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1277295" cy="0"/>
          </a:xfrm>
          <a:prstGeom prst="line">
            <a:avLst/>
          </a:prstGeom>
          <a:noFill/>
          <a:ln w="12700">
            <a:solidFill>
              <a:srgbClr val="2A33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550148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B9B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BB84 - Prepare-and-Measure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5501488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D9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Alice encodes a random bit in a random basis (Z or X). She prepares the qubit via Qiskit gates: X for bit=1, H for X-basis. Bob measures in his own random basis. Matching-basis positions form the raw key.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017520"/>
            <a:ext cx="5501488" cy="1737360"/>
          </a:xfrm>
          <a:prstGeom prst="rect">
            <a:avLst/>
          </a:prstGeom>
          <a:solidFill>
            <a:srgbClr val="0B0E15"/>
          </a:solidFill>
          <a:ln w="12700">
            <a:solidFill>
              <a:srgbClr val="232A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3154680"/>
            <a:ext cx="5135728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C758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bb84.py - Qiskit prep &amp; measure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9E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qc = QuantumCircuit(1)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9E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if alice_bit == 1: qc.x(0)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9E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if alice_basis == 'X': qc.h(0)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9E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state = Statevector.from_instruction(qc)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C758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Bob measures in his basis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9E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if bob_basis == 'X': state = state.evolve(H)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9B3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bob_bit = sample(state.probabilities())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33008" y="1554480"/>
            <a:ext cx="550148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B9B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E91 - Entanglement-Based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233008" y="2011680"/>
            <a:ext cx="5501488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D9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entangled |Φ⁺⟩ Bell pair is generated by H + CNOT in Qiskit. One qubit goes to each party. They measure at preset angles, then use a subset (A0/B0) for the key and the rest to compute the CHSH test.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33008" y="3017520"/>
            <a:ext cx="5501488" cy="1737360"/>
          </a:xfrm>
          <a:prstGeom prst="rect">
            <a:avLst/>
          </a:prstGeom>
          <a:solidFill>
            <a:srgbClr val="0B0E15"/>
          </a:solidFill>
          <a:ln w="12700">
            <a:solidFill>
              <a:srgbClr val="232A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15888" y="3154680"/>
            <a:ext cx="5135728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C758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quantum.py - Bell pair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9E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qc = QuantumCircuit(2)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9B3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qc.h(0); qc.cx(0, 1)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C758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Rotate each qubit to its measurement angle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9E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qc.ry(-alice_angle, 0)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9E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qc.ry(-bob_angle, 1)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C758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Sample joint outcome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9B3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alice_bit, bob_bit = sample(state.probs)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89204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EB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Differences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5285232"/>
            <a:ext cx="11277295" cy="0"/>
          </a:xfrm>
          <a:prstGeom prst="line">
            <a:avLst/>
          </a:prstGeom>
          <a:noFill/>
          <a:ln w="12700">
            <a:solidFill>
              <a:srgbClr val="2A33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6" name="Table 0"/>
          <p:cNvGraphicFramePr>
            <a:graphicFrameLocks noGrp="1"/>
          </p:cNvGraphicFramePr>
          <p:nvPr/>
        </p:nvGraphicFramePr>
        <p:xfrm>
          <a:off x="457200" y="5394960"/>
          <a:ext cx="11277295" cy="1170432"/>
        </p:xfrm>
        <a:graphic>
          <a:graphicData uri="http://schemas.openxmlformats.org/drawingml/2006/table">
            <a:tbl>
              <a:tblPr/>
              <a:tblGrid>
                <a:gridCol w="2286000"/>
                <a:gridCol w="4480560"/>
                <a:gridCol w="4510735"/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8EBE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Feature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8EBE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BB84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8EBE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E91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D9E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Mechanism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D9E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Prepare-and-measure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D9E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Entanglement-based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3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D9E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Raw Key Source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D9E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Basis-matching positions (~50%)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D9E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A0/B0 basis pair (~25%)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D9E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Security Proof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D9E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QBER threshold (11%)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D9E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CHSH violation (S &gt; 2.2)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33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11643055" y="653796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C75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A0D14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B9B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 THE THREE PILLARS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E8EB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Pillar 2 - Eavesdrop Detection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1277295" cy="0"/>
          </a:xfrm>
          <a:prstGeom prst="line">
            <a:avLst/>
          </a:prstGeom>
          <a:noFill/>
          <a:ln w="12700">
            <a:solidFill>
              <a:srgbClr val="2A33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501488" cy="3108960"/>
          </a:xfrm>
          <a:prstGeom prst="rect">
            <a:avLst/>
          </a:prstGeom>
          <a:solidFill>
            <a:srgbClr val="1A2030"/>
          </a:solidFill>
          <a:ln w="12700">
            <a:solidFill>
              <a:srgbClr val="2A33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691640"/>
            <a:ext cx="504428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9B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BB84 - QBER Detection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057400"/>
            <a:ext cx="5044288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4D9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Eve's </a:t>
            </a:r>
            <a:r>
              <a:rPr lang="en-US" sz="1200" b="1" dirty="0">
                <a:solidFill>
                  <a:srgbClr val="E89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intercept-resend attack</a:t>
            </a:r>
            <a:r>
              <a:rPr lang="en-US" sz="1200" dirty="0">
                <a:solidFill>
                  <a:srgbClr val="D4D9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forces her to measure in a random basis. When her basis disagrees with Alice's (~50% of the time), she introduces </a:t>
            </a:r>
            <a:r>
              <a:rPr lang="en-US" sz="1200" b="1" dirty="0">
                <a:solidFill>
                  <a:srgbClr val="E89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detectable errors</a:t>
            </a:r>
            <a:r>
              <a:rPr lang="en-US" sz="1200" dirty="0">
                <a:solidFill>
                  <a:srgbClr val="D4D9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in Bob's measurements.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3063240"/>
            <a:ext cx="5044288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4D9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interception pushes QBER toward </a:t>
            </a:r>
            <a:r>
              <a:rPr lang="en-US" sz="1200" b="1" dirty="0">
                <a:solidFill>
                  <a:srgbClr val="E89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~25%</a:t>
            </a:r>
            <a:r>
              <a:rPr lang="en-US" sz="1200" dirty="0">
                <a:solidFill>
                  <a:srgbClr val="D4D9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 Session aborts above </a:t>
            </a:r>
            <a:r>
              <a:rPr lang="en-US" sz="1200" b="1" dirty="0">
                <a:solidFill>
                  <a:srgbClr val="E89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11% threshold</a:t>
            </a:r>
            <a:r>
              <a:rPr lang="en-US" sz="1200" dirty="0">
                <a:solidFill>
                  <a:srgbClr val="D4D9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3657600"/>
            <a:ext cx="5044288" cy="914400"/>
          </a:xfrm>
          <a:prstGeom prst="rect">
            <a:avLst/>
          </a:prstGeom>
          <a:solidFill>
            <a:srgbClr val="0B0E15"/>
          </a:solidFill>
          <a:ln w="12700">
            <a:solidFill>
              <a:srgbClr val="232A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3794760"/>
            <a:ext cx="4678528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C758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Qiskit measures Eve's qubit, she re-prepares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9E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bob_bit, _ = bb84_prepare_and_measure(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9E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bit, alice_basis, bob_basis, eve_basis=...)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9B3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qber = errors / sample_size  # abort if &gt; 11%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33008" y="1554480"/>
            <a:ext cx="5501488" cy="3108960"/>
          </a:xfrm>
          <a:prstGeom prst="rect">
            <a:avLst/>
          </a:prstGeom>
          <a:solidFill>
            <a:srgbClr val="1A2030"/>
          </a:solidFill>
          <a:ln w="12700">
            <a:solidFill>
              <a:srgbClr val="2A33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61608" y="1691640"/>
            <a:ext cx="504428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9B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E91 - CHSH Violation Test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61608" y="2057400"/>
            <a:ext cx="5044288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4D9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Eve's interception </a:t>
            </a:r>
            <a:r>
              <a:rPr lang="en-US" sz="1200" b="1" dirty="0">
                <a:solidFill>
                  <a:srgbClr val="E89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destroys entanglement</a:t>
            </a:r>
            <a:r>
              <a:rPr lang="en-US" sz="1200" dirty="0">
                <a:solidFill>
                  <a:srgbClr val="D4D9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 The Bell pair collapses to a classical product state, and the CHSH S-value drops from the quantum regime (~2.39) toward the </a:t>
            </a:r>
            <a:r>
              <a:rPr lang="en-US" sz="1200" b="1" dirty="0">
                <a:solidFill>
                  <a:srgbClr val="E89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classical bound (2.0)</a:t>
            </a:r>
            <a:r>
              <a:rPr lang="en-US" sz="1200" dirty="0">
                <a:solidFill>
                  <a:srgbClr val="D4D9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61608" y="3063240"/>
            <a:ext cx="5044288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4D9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Session aborts when </a:t>
            </a:r>
            <a:r>
              <a:rPr lang="en-US" sz="1200" b="1" dirty="0">
                <a:solidFill>
                  <a:srgbClr val="E89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 &lt; 2.2</a:t>
            </a:r>
            <a:r>
              <a:rPr lang="en-US" sz="1200" dirty="0">
                <a:solidFill>
                  <a:srgbClr val="D4D9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, a safe margin above the classical limit.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61608" y="3657600"/>
            <a:ext cx="5044288" cy="914400"/>
          </a:xfrm>
          <a:prstGeom prst="rect">
            <a:avLst/>
          </a:prstGeom>
          <a:solidFill>
            <a:srgbClr val="0B0E15"/>
          </a:solidFill>
          <a:ln w="12700">
            <a:solidFill>
              <a:srgbClr val="232A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644488" y="3794760"/>
            <a:ext cx="4678528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C758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e91.py - CHSH expectation values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9B3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 = abs(E00 - E01 + E10 + E11)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C758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Quantum max: 2.828   Classical max: 2.0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9E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aborted = (S &lt; 2.2)  # safe margin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80060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EB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Detection Thresholds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5193792"/>
            <a:ext cx="11277295" cy="0"/>
          </a:xfrm>
          <a:prstGeom prst="line">
            <a:avLst/>
          </a:prstGeom>
          <a:noFill/>
          <a:ln w="12700">
            <a:solidFill>
              <a:srgbClr val="2A33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20" name="Table 0"/>
          <p:cNvGraphicFramePr>
            <a:graphicFrameLocks noGrp="1"/>
          </p:cNvGraphicFramePr>
          <p:nvPr/>
        </p:nvGraphicFramePr>
        <p:xfrm>
          <a:off x="457200" y="5303520"/>
          <a:ext cx="11277296" cy="1170432"/>
        </p:xfrm>
        <a:graphic>
          <a:graphicData uri="http://schemas.openxmlformats.org/drawingml/2006/table">
            <a:tbl>
              <a:tblPr/>
              <a:tblGrid>
                <a:gridCol w="2819324"/>
                <a:gridCol w="2819324"/>
                <a:gridCol w="2819324"/>
                <a:gridCol w="2819324"/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8EBE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Parameter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8EBE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BB84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8EBE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E91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8EBE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Theory Basis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D9E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Detection Metric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D9E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QBER (Quantum Bit Error Rate)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D9E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CHSH S-value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D9E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Error rate / Bell inequality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3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D9E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Abort Threshold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9B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QBER &gt; 11%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9B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 &lt; 2.2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D9E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Standard BB84 bound / Safe margin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D9E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Eve's Impact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9B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QBER → ~25% (full intercept)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9B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 → ~0 (entanglement broken)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D4D9E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Clearly detectable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33"/>
                    </a:solidFill>
                  </a:tcPr>
                </a:tc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11643055" y="653796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C75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A0D14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B9B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 THE THREE PILLARS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E8EB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Pillar 3 - Secret Key Distillation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1277295" cy="0"/>
          </a:xfrm>
          <a:prstGeom prst="line">
            <a:avLst/>
          </a:prstGeom>
          <a:noFill/>
          <a:ln w="12700">
            <a:solidFill>
              <a:srgbClr val="2A33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8892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THREE-STAGE PIPELINE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3606698" cy="2423160"/>
          </a:xfrm>
          <a:prstGeom prst="rect">
            <a:avLst/>
          </a:prstGeom>
          <a:solidFill>
            <a:srgbClr val="1A2030"/>
          </a:solidFill>
          <a:ln w="12700">
            <a:solidFill>
              <a:srgbClr val="2A33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196596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5B9B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71600" y="2011680"/>
            <a:ext cx="2509418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B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Sifting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468880"/>
            <a:ext cx="3149498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D9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Drop positions where Alice and Bob used different bases. Only basis-matching positions contribute to the raw key.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3291840"/>
            <a:ext cx="3149498" cy="868680"/>
          </a:xfrm>
          <a:prstGeom prst="rect">
            <a:avLst/>
          </a:prstGeom>
          <a:solidFill>
            <a:srgbClr val="0B0E15"/>
          </a:solidFill>
          <a:ln w="12700">
            <a:solidFill>
              <a:srgbClr val="232A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3429000"/>
            <a:ext cx="2783738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C758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from utils.py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9E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if alice_basis == bob_basis: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9E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sifted.append(bit)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92498" y="1828800"/>
            <a:ext cx="3606698" cy="2423160"/>
          </a:xfrm>
          <a:prstGeom prst="rect">
            <a:avLst/>
          </a:prstGeom>
          <a:solidFill>
            <a:srgbClr val="1A2030"/>
          </a:solidFill>
          <a:ln w="12700">
            <a:solidFill>
              <a:srgbClr val="2A33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21098" y="196596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5B9B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206898" y="2011680"/>
            <a:ext cx="2509418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B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Error Reconciliation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21098" y="2468880"/>
            <a:ext cx="3149498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D9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Parity-based Cascade: Alice announces block parities, Bob locates and flips bad bits via binary search. Every leaked bit is counted.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21098" y="3291840"/>
            <a:ext cx="3149498" cy="868680"/>
          </a:xfrm>
          <a:prstGeom prst="rect">
            <a:avLst/>
          </a:prstGeom>
          <a:solidFill>
            <a:srgbClr val="0B0E15"/>
          </a:solidFill>
          <a:ln w="12700">
            <a:solidFill>
              <a:srgbClr val="232A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03978" y="3429000"/>
            <a:ext cx="2783738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C758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from utils.py - Cascade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9E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while lo &lt; hi:  # binary search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9E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mid = (lo + hi) // 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9B3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bob[lo] ^= 1  # flip error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27797" y="1828800"/>
            <a:ext cx="3606698" cy="2423160"/>
          </a:xfrm>
          <a:prstGeom prst="rect">
            <a:avLst/>
          </a:prstGeom>
          <a:solidFill>
            <a:srgbClr val="1A2030"/>
          </a:solidFill>
          <a:ln w="12700">
            <a:solidFill>
              <a:srgbClr val="2A33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356397" y="196596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5B9B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042197" y="2011680"/>
            <a:ext cx="2509418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B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Privacy Amplification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356397" y="2468880"/>
            <a:ext cx="3149498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D9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SHA-256 hash compresses the reconciled key. Output length determined by Shor-Preskill bound using measured QBER.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356397" y="3291840"/>
            <a:ext cx="3149498" cy="868680"/>
          </a:xfrm>
          <a:prstGeom prst="rect">
            <a:avLst/>
          </a:prstGeom>
          <a:solidFill>
            <a:srgbClr val="0B0E15"/>
          </a:solidFill>
          <a:ln w="12700">
            <a:solidFill>
              <a:srgbClr val="232A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539277" y="3429000"/>
            <a:ext cx="2783738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C758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from utils.py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9E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 = n*(1-h2(qber))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9E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- leak_EC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9B3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- 2*log2(1/epsilon)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09618" y="2948940"/>
            <a:ext cx="137160" cy="182880"/>
          </a:xfrm>
          <a:prstGeom prst="rightArrow">
            <a:avLst/>
          </a:prstGeom>
          <a:solidFill>
            <a:srgbClr val="6C7585"/>
          </a:solidFill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944917" y="2948940"/>
            <a:ext cx="137160" cy="182880"/>
          </a:xfrm>
          <a:prstGeom prst="rightArrow">
            <a:avLst/>
          </a:prstGeom>
          <a:solidFill>
            <a:srgbClr val="6C7585"/>
          </a:solidFill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443484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EB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Formula - Shor-Preskill Bound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57200" y="4828032"/>
            <a:ext cx="11277295" cy="0"/>
          </a:xfrm>
          <a:prstGeom prst="line">
            <a:avLst/>
          </a:prstGeom>
          <a:noFill/>
          <a:ln w="12700">
            <a:solidFill>
              <a:srgbClr val="2A33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57200" y="4937760"/>
            <a:ext cx="11277295" cy="685800"/>
          </a:xfrm>
          <a:prstGeom prst="rect">
            <a:avLst/>
          </a:prstGeom>
          <a:solidFill>
            <a:srgbClr val="0B0E15"/>
          </a:solidFill>
          <a:ln w="12700">
            <a:solidFill>
              <a:srgbClr val="232A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57200" y="4937760"/>
            <a:ext cx="11277295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892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  =  </a:t>
            </a:r>
            <a:r>
              <a:rPr lang="en-US" sz="2000" b="1" dirty="0">
                <a:solidFill>
                  <a:srgbClr val="5B9B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</a:t>
            </a:r>
            <a:r>
              <a:rPr lang="en-US" sz="2000" dirty="0">
                <a:solidFill>
                  <a:srgbClr val="8892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· (1 − </a:t>
            </a:r>
            <a:r>
              <a:rPr lang="en-US" sz="2000" b="1" dirty="0">
                <a:solidFill>
                  <a:srgbClr val="5B9B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h₂(QBER)</a:t>
            </a:r>
            <a:r>
              <a:rPr lang="en-US" sz="2000" dirty="0">
                <a:solidFill>
                  <a:srgbClr val="8892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  −  </a:t>
            </a:r>
            <a:r>
              <a:rPr lang="en-US" sz="2000" b="1" dirty="0">
                <a:solidFill>
                  <a:srgbClr val="E89B3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leak_EC</a:t>
            </a:r>
            <a:r>
              <a:rPr lang="en-US" sz="2000" dirty="0">
                <a:solidFill>
                  <a:srgbClr val="8892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−  2 · log₂(1 / ε)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457200" y="5760720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EB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Leakage Tracking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457200" y="6108192"/>
            <a:ext cx="11277295" cy="0"/>
          </a:xfrm>
          <a:prstGeom prst="line">
            <a:avLst/>
          </a:prstGeom>
          <a:noFill/>
          <a:ln w="12700">
            <a:solidFill>
              <a:srgbClr val="2A33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57200" y="6172200"/>
            <a:ext cx="11277295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4D9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parity bit Alice reveals during Cascade is </a:t>
            </a:r>
            <a:r>
              <a:rPr lang="en-US" sz="1000" b="1" dirty="0">
                <a:solidFill>
                  <a:srgbClr val="E89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counted and subtracted</a:t>
            </a:r>
            <a:r>
              <a:rPr lang="en-US" sz="1000" dirty="0">
                <a:solidFill>
                  <a:srgbClr val="D4D9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in privacy amplification. Output length derives from measured QBER via binary entropy h₂, with ε = 10⁻¹⁰.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643055" y="653796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C75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newdeck/section_bg_2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553048" y="0"/>
            <a:ext cx="5638648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53048" y="0"/>
            <a:ext cx="1371600" cy="6858000"/>
          </a:xfrm>
          <a:prstGeom prst="rect">
            <a:avLst/>
          </a:prstGeom>
          <a:solidFill>
            <a:srgbClr val="0E1117">
              <a:alpha val="7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731520" y="2286000"/>
            <a:ext cx="2743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dirty="0">
                <a:solidFill>
                  <a:srgbClr val="5B9B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5600" dirty="0"/>
          </a:p>
        </p:txBody>
      </p:sp>
      <p:sp>
        <p:nvSpPr>
          <p:cNvPr id="5" name="Shape 2"/>
          <p:cNvSpPr/>
          <p:nvPr/>
        </p:nvSpPr>
        <p:spPr>
          <a:xfrm>
            <a:off x="731520" y="3291840"/>
            <a:ext cx="1371600" cy="0"/>
          </a:xfrm>
          <a:prstGeom prst="line">
            <a:avLst/>
          </a:prstGeom>
          <a:noFill/>
          <a:ln w="25400">
            <a:solidFill>
              <a:srgbClr val="5B9B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31520" y="3520440"/>
            <a:ext cx="5029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E8EB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 Deep Dive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731520" y="4251960"/>
            <a:ext cx="50292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892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quantum.py primitives, BB84 and E91 protocol implementations, and the cryptographic post-processing pipeline.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A0D14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B9B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 CODE DEEP DIVE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E8EB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quantum.py - The Qiskit Primitives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1277295" cy="0"/>
          </a:xfrm>
          <a:prstGeom prst="line">
            <a:avLst/>
          </a:prstGeom>
          <a:noFill/>
          <a:ln w="12700">
            <a:solidFill>
              <a:srgbClr val="2A33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11277295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4D9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quantum operation in our submission goes through real Qiskit circuits. </a:t>
            </a:r>
            <a:r>
              <a:rPr lang="en-US" sz="1300" b="1" dirty="0">
                <a:solidFill>
                  <a:srgbClr val="E89B3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QuantumCircuit, Statevector, </a:t>
            </a:r>
            <a:r>
              <a:rPr lang="en-US" sz="1300" dirty="0">
                <a:solidFill>
                  <a:srgbClr val="D4D9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and gates </a:t>
            </a:r>
            <a:r>
              <a:rPr lang="en-US" sz="1300" b="1" dirty="0">
                <a:solidFill>
                  <a:srgbClr val="E89B3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H, X, CX, Ry</a:t>
            </a:r>
            <a:r>
              <a:rPr lang="en-US" sz="1300" dirty="0">
                <a:solidFill>
                  <a:srgbClr val="D4D9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- re-targetable to real QPU hardware with no protocol changes.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903611"/>
            <a:ext cx="550148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B9B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bb84_prepare_and_measure()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360811"/>
            <a:ext cx="5486400" cy="4206240"/>
          </a:xfrm>
          <a:prstGeom prst="rect">
            <a:avLst/>
          </a:prstGeom>
          <a:solidFill>
            <a:srgbClr val="0B0E15"/>
          </a:solidFill>
          <a:ln w="12700">
            <a:solidFill>
              <a:srgbClr val="232A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497971"/>
            <a:ext cx="5135728" cy="3383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4D9E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def bb84_prepare_and_measure(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9E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alice_bit, alice_basis,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9E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bob_basis, eve_basis=None):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C758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# --- Alice prepares ---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B9B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qc = QuantumCircuit(1)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9E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if alice_bit == 1: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9B3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qc.x(0)        # |0&gt; -&gt; |1&gt;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9E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if alice_basis == 'X':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9B3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qc.h(0)        # |0&gt; -&gt; |+&gt;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B9B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state = Statevector.from_instruction(qc)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C758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# --- Eve (if present) ---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9E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if eve_basis is not None: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9E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if eve_basis == 'X':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9E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state = state.evolve(H)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9E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eve_bit = sample(state.probs)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9E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state = re_prepare(eve_bit, eve_basis)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C758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# --- Bob measures ---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9E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if bob_basis == 'X':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9E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state = state.evolve(H)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9B3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bob_bit = sample(state.probabilities())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9E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bob_bit, eve_bit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33008" y="1903611"/>
            <a:ext cx="550148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B9B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bell_pair_measure()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33008" y="2360811"/>
            <a:ext cx="5410047" cy="4206240"/>
          </a:xfrm>
          <a:prstGeom prst="rect">
            <a:avLst/>
          </a:prstGeom>
          <a:solidFill>
            <a:srgbClr val="0B0E15"/>
          </a:solidFill>
          <a:ln w="12700">
            <a:solidFill>
              <a:srgbClr val="232A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15888" y="2497971"/>
            <a:ext cx="5135728" cy="3383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4D9E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def bell_pair_measure(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9E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alice_angle, bob_angle,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9E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eve_intercepts=False):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C758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# --- Create |Phi+&gt; Bell pair ---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B9B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qc = QuantumCircuit(2)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9B3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qc.h(0)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9B3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qc.cx(0, 1)        # entanglement!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B9B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state = Statevector.from_instruction(qc)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C758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# --- Eve breaks entanglement ---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9E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if eve_intercepts: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9E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outcome = measure_z_both(state)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9E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state = product_state(outcome)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C758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# --- Rotate to measurement angles ---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9B3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qc.ry(-alice_angle, 0)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9B3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qc.ry(-bob_angle, 1)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B9B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state = state.evolve(qc)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C758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# --- Joint measurement ---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9B3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a_bit, b_bit = sample(state.probs)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9E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a_bit, b_bit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643055" y="6338451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C75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A0D14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B9B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 CODE DEEP DIVE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E8EB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BB84 Protocol &amp; Crypto Engine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1277295" cy="0"/>
          </a:xfrm>
          <a:prstGeom prst="line">
            <a:avLst/>
          </a:prstGeom>
          <a:noFill/>
          <a:ln w="12700">
            <a:solidFill>
              <a:srgbClr val="2A33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11277295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4D9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</a:t>
            </a:r>
            <a:r>
              <a:rPr lang="en-US" sz="1300" b="1" dirty="0">
                <a:solidFill>
                  <a:srgbClr val="5B9B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BB84 class</a:t>
            </a:r>
            <a:r>
              <a:rPr lang="en-US" sz="1300" dirty="0">
                <a:solidFill>
                  <a:srgbClr val="D4D9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orchestrates all three pillars through Qiskit-backed quantum operations, then hands off to the </a:t>
            </a:r>
            <a:r>
              <a:rPr lang="en-US" sz="1300" b="1" dirty="0">
                <a:solidFill>
                  <a:srgbClr val="5B9B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utils.py</a:t>
            </a:r>
            <a:r>
              <a:rPr lang="en-US" sz="1300" dirty="0">
                <a:solidFill>
                  <a:srgbClr val="D4D9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crypto pipeline for sifting, reconciliation, and amplification.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903608"/>
            <a:ext cx="550148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B9B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BB84.run() - 3-Pillar Pipeline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5501488" cy="4114800"/>
          </a:xfrm>
          <a:prstGeom prst="rect">
            <a:avLst/>
          </a:prstGeom>
          <a:solidFill>
            <a:srgbClr val="0B0E15"/>
          </a:solidFill>
          <a:ln w="12700">
            <a:solidFill>
              <a:srgbClr val="232A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32536" y="2556164"/>
            <a:ext cx="5135728" cy="3383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4D9E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def run(self):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B9B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# --- Pillar 1: Key Exchange ---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9E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alice_bits  = random_bits(self.n_bits)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9E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alice_bases = random_bases(self.n_bits)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9E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bob_bases   = random_bases(self.n_bits)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9B3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bob_bits = self._transmit(...)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C758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# Qiskit circuits run here, per qubit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B9B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# --- Pillar 2: Eavesdrop Detection ---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9E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sifted_a, sifted_b = sift(...)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9E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qber = calculate_qber(sample_a, sample_b)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9B3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aborted = qber &gt; self.qber_threshold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C758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# abort if QBER &gt; 11%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B9B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# --- Pillar 3: Key Distillation ---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9E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if not aborted: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9E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reconciled, leaked = reconcile(...)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9E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final_key = privacy_amplify(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9E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reconciled,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9E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leaked_bits=leaked,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9B3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qber=qber)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9E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{ 'qber': qber, 'aborted': aborted,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9E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 'final_key': final_key, ... }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33008" y="1903608"/>
            <a:ext cx="550148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B9B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utils.py - Crypto Engine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33008" y="2427316"/>
            <a:ext cx="5501488" cy="1951413"/>
          </a:xfrm>
          <a:prstGeom prst="rect">
            <a:avLst/>
          </a:prstGeom>
          <a:solidFill>
            <a:srgbClr val="1A2030"/>
          </a:solidFill>
          <a:ln w="12700">
            <a:solidFill>
              <a:srgbClr val="2A33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15888" y="2473037"/>
            <a:ext cx="513572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9B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Cascade Reconciliation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15888" y="2793076"/>
            <a:ext cx="5143576" cy="1548249"/>
          </a:xfrm>
          <a:prstGeom prst="rect">
            <a:avLst/>
          </a:prstGeom>
          <a:solidFill>
            <a:srgbClr val="0B0E15"/>
          </a:solidFill>
          <a:ln w="12700">
            <a:solidFill>
              <a:srgbClr val="232A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98768" y="2930237"/>
            <a:ext cx="4769968" cy="11201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4D9E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def reconcile(alice, bob, block=8):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9E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for start in range(0, n, block):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C758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leaked += 1   # parity bit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9E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if parity(a) != parity(b):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9E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while lo &lt; hi:   # bisect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9E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    mid = (lo+hi)//2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9B3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bob[lo] ^= 1    # flip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9E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alice, leaked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33008" y="4474328"/>
            <a:ext cx="5501488" cy="2063631"/>
          </a:xfrm>
          <a:prstGeom prst="rect">
            <a:avLst/>
          </a:prstGeom>
          <a:solidFill>
            <a:srgbClr val="1A2030"/>
          </a:solidFill>
          <a:ln w="12700">
            <a:solidFill>
              <a:srgbClr val="2A33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15888" y="4520049"/>
            <a:ext cx="513572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9B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Privacy Amplification - Shor-Preskill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15888" y="4840089"/>
            <a:ext cx="5143576" cy="1564868"/>
          </a:xfrm>
          <a:prstGeom prst="rect">
            <a:avLst/>
          </a:prstGeom>
          <a:solidFill>
            <a:srgbClr val="0B0E15"/>
          </a:solidFill>
          <a:ln w="12700">
            <a:solidFill>
              <a:srgbClr val="232A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98768" y="4977249"/>
            <a:ext cx="4769968" cy="11201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4D9E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def privacy_amplify(key, leaked,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9E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        qber, eps=1e-10):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C758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# LHL output length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9E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target = n*(1 - h2(qber))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9E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 - leaked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9B3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 - 2*log2(1/eps)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9E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digest = sha256(key).digest()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9E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digest[:target]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643055" y="6404957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C75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newdeck/section_bg_3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553048" y="0"/>
            <a:ext cx="5638648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53048" y="0"/>
            <a:ext cx="1371600" cy="6858000"/>
          </a:xfrm>
          <a:prstGeom prst="rect">
            <a:avLst/>
          </a:prstGeom>
          <a:solidFill>
            <a:srgbClr val="0E1117">
              <a:alpha val="7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731520" y="2286000"/>
            <a:ext cx="2743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dirty="0">
                <a:solidFill>
                  <a:srgbClr val="5B9B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5600" dirty="0"/>
          </a:p>
        </p:txBody>
      </p:sp>
      <p:sp>
        <p:nvSpPr>
          <p:cNvPr id="5" name="Shape 2"/>
          <p:cNvSpPr/>
          <p:nvPr/>
        </p:nvSpPr>
        <p:spPr>
          <a:xfrm>
            <a:off x="731520" y="3291840"/>
            <a:ext cx="1371600" cy="0"/>
          </a:xfrm>
          <a:prstGeom prst="line">
            <a:avLst/>
          </a:prstGeom>
          <a:noFill/>
          <a:ln w="25400">
            <a:solidFill>
              <a:srgbClr val="5B9B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31520" y="3520440"/>
            <a:ext cx="5029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E8EB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 &amp; Output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731520" y="4251960"/>
            <a:ext cx="50292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892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Experimental data from end-to-end Qiskit-backed runs. Protocol comparison, eavesdrop detection, and security parameters.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A0D14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B9B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 RESULTS &amp; OUTPUT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E8EB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Experimental Results - End-to-End Runs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1277295" cy="0"/>
          </a:xfrm>
          <a:prstGeom prst="line">
            <a:avLst/>
          </a:prstGeom>
          <a:noFill/>
          <a:ln w="12700">
            <a:solidFill>
              <a:srgbClr val="2A33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8892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BB84 - KEY SCENARIOS FROM MAIN.PY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11277295" cy="731520"/>
          </a:xfrm>
          <a:prstGeom prst="rect">
            <a:avLst/>
          </a:prstGeom>
          <a:solidFill>
            <a:srgbClr val="1A2030"/>
          </a:solidFill>
          <a:ln w="12700">
            <a:solidFill>
              <a:srgbClr val="2A33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1091153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2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Clean Channel  ·  </a:t>
            </a:r>
            <a:r>
              <a:rPr lang="en-US" sz="1300" dirty="0">
                <a:solidFill>
                  <a:srgbClr val="D4D9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QBER: </a:t>
            </a:r>
            <a:r>
              <a:rPr lang="en-US" sz="1300" b="1" dirty="0">
                <a:solidFill>
                  <a:srgbClr val="5B9B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0.00%</a:t>
            </a:r>
            <a:r>
              <a:rPr lang="en-US" sz="1300" dirty="0">
                <a:solidFill>
                  <a:srgbClr val="D4D9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·    Sifted: </a:t>
            </a:r>
            <a:r>
              <a:rPr lang="en-US" sz="1300" b="1" dirty="0">
                <a:solidFill>
                  <a:srgbClr val="5B9B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995 bits</a:t>
            </a:r>
            <a:r>
              <a:rPr lang="en-US" sz="1300" dirty="0">
                <a:solidFill>
                  <a:srgbClr val="D4D9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·    Final Key: </a:t>
            </a:r>
            <a:r>
              <a:rPr lang="en-US" sz="1300" b="1" dirty="0">
                <a:solidFill>
                  <a:srgbClr val="E89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256 bits</a:t>
            </a:r>
            <a:r>
              <a:rPr lang="en-US" sz="1300" dirty="0">
                <a:solidFill>
                  <a:srgbClr val="D4D9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·    Basis Match: </a:t>
            </a:r>
            <a:r>
              <a:rPr lang="en-US" sz="1300" b="1" dirty="0">
                <a:solidFill>
                  <a:srgbClr val="5B9B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49.8%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11277295" cy="731520"/>
          </a:xfrm>
          <a:prstGeom prst="rect">
            <a:avLst/>
          </a:prstGeom>
          <a:solidFill>
            <a:srgbClr val="1A2030"/>
          </a:solidFill>
          <a:ln w="12700">
            <a:solidFill>
              <a:srgbClr val="E89B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1091153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2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 Intercepts All  ·  </a:t>
            </a:r>
            <a:r>
              <a:rPr lang="en-US" sz="1300" dirty="0">
                <a:solidFill>
                  <a:srgbClr val="D4D9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QBER: </a:t>
            </a:r>
            <a:r>
              <a:rPr lang="en-US" sz="1300" b="1" dirty="0">
                <a:solidFill>
                  <a:srgbClr val="E89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23.81%</a:t>
            </a:r>
            <a:r>
              <a:rPr lang="en-US" sz="1300" dirty="0">
                <a:solidFill>
                  <a:srgbClr val="D4D9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·    Threshold: </a:t>
            </a:r>
            <a:r>
              <a:rPr lang="en-US" sz="1300" b="1" dirty="0">
                <a:solidFill>
                  <a:srgbClr val="D4D9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11.00%</a:t>
            </a:r>
            <a:r>
              <a:rPr lang="en-US" sz="1300" dirty="0">
                <a:solidFill>
                  <a:srgbClr val="D4D9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·    Verdict: </a:t>
            </a:r>
            <a:r>
              <a:rPr lang="en-US" sz="1300" b="1" dirty="0">
                <a:solidFill>
                  <a:srgbClr val="E89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 DETECTED - SESSION ABORTED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5204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8892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QBER SWEEP - EVE FRACTION 0% → 100%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370168" y="35204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8892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NOISY CHANNEL SWEEP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457200" y="3794760"/>
          <a:ext cx="5455768" cy="1408176"/>
        </p:xfrm>
        <a:graphic>
          <a:graphicData uri="http://schemas.openxmlformats.org/drawingml/2006/table">
            <a:tbl>
              <a:tblPr/>
              <a:tblGrid>
                <a:gridCol w="1363942"/>
                <a:gridCol w="1363942"/>
                <a:gridCol w="1363942"/>
                <a:gridCol w="1363942"/>
              </a:tblGrid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8EBE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Eve Fraction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8EBE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QBER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8EBE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Aborted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8EBE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Final Key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4D9E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0%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4D9E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0.00%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4D9E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4D9E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256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33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4D9E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10%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4D9E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1.99%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4D9E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4D9E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256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4D9E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20%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4D9E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6.54%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4D9E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4D9E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256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33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4D9E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30%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4D9E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9.87%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4D9E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4D9E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256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4D9E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50%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9B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13.42%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9B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YES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4D9E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33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4D9E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100%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9B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24.32%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9B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YES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4D9E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" name="Table 1"/>
          <p:cNvGraphicFramePr>
            <a:graphicFrameLocks noGrp="1"/>
          </p:cNvGraphicFramePr>
          <p:nvPr/>
        </p:nvGraphicFramePr>
        <p:xfrm>
          <a:off x="6370168" y="3794760"/>
          <a:ext cx="5455768" cy="1408176"/>
        </p:xfrm>
        <a:graphic>
          <a:graphicData uri="http://schemas.openxmlformats.org/drawingml/2006/table">
            <a:tbl>
              <a:tblPr/>
              <a:tblGrid>
                <a:gridCol w="1363942"/>
                <a:gridCol w="1363942"/>
                <a:gridCol w="1363942"/>
                <a:gridCol w="1363942"/>
              </a:tblGrid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8EBE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Channel Noise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8EBE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QBER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8EBE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Aborted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8EBE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Final Key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A3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4D9E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0.0%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4D9E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0.00%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4D9E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4D9E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256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33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4D9E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1.0%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4D9E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0.68%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4D9E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4D9E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256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4D9E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3.0%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4D9E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2.74%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4D9E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4D9E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256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33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4D9E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5.0%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4D9E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3.97%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4D9E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4D9E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256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4D9E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8.0%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4D9E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7.48%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4D9E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4D9E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256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33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4D9E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12.0%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9B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11.76%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9B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YES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4D9E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marB="12700" anchor="ctr">
                    <a:lnL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</a:tr>
            </a:tbl>
          </a:graphicData>
        </a:graphic>
      </p:graphicFrame>
      <p:sp>
        <p:nvSpPr>
          <p:cNvPr id="13" name="Text 11"/>
          <p:cNvSpPr/>
          <p:nvPr/>
        </p:nvSpPr>
        <p:spPr>
          <a:xfrm>
            <a:off x="457200" y="55321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8892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E91 - CHSH BELL VIOLATION (FROM QISKIT)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57200" y="5806440"/>
            <a:ext cx="5547208" cy="502920"/>
          </a:xfrm>
          <a:prstGeom prst="rect">
            <a:avLst/>
          </a:prstGeom>
          <a:solidFill>
            <a:srgbClr val="1A2030"/>
          </a:solidFill>
          <a:ln w="12700">
            <a:solidFill>
              <a:srgbClr val="2A33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640080" y="5806440"/>
            <a:ext cx="518144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Eve  ·  </a:t>
            </a:r>
            <a:r>
              <a:rPr lang="en-US" sz="1200" b="1" dirty="0">
                <a:solidFill>
                  <a:srgbClr val="5B9B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 = 2.34</a:t>
            </a:r>
            <a:r>
              <a:rPr lang="en-US" sz="1200" dirty="0">
                <a:solidFill>
                  <a:srgbClr val="D4D9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·  Quantum regime, entanglement intact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187288" y="5806440"/>
            <a:ext cx="5547208" cy="502920"/>
          </a:xfrm>
          <a:prstGeom prst="rect">
            <a:avLst/>
          </a:prstGeom>
          <a:solidFill>
            <a:srgbClr val="1A2030"/>
          </a:solidFill>
          <a:ln w="12700">
            <a:solidFill>
              <a:srgbClr val="E89B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6370168" y="5806440"/>
            <a:ext cx="518144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With Eve  ·  </a:t>
            </a:r>
            <a:r>
              <a:rPr lang="en-US" sz="1200" b="1" dirty="0">
                <a:solidFill>
                  <a:srgbClr val="E89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 = 1.55</a:t>
            </a:r>
            <a:r>
              <a:rPr lang="en-US" sz="1200" dirty="0">
                <a:solidFill>
                  <a:srgbClr val="D4D9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·  Bell violation lost - ABORTED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89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insight: </a:t>
            </a:r>
            <a:r>
              <a:rPr lang="en-US" sz="1100" dirty="0">
                <a:solidFill>
                  <a:srgbClr val="D4D9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Qiskit reproduces both signatures cleanly. BB84 QBER lands at 23.81% under full Eve (theory: 25%). E91 CHSH violation drops from 2.34 to 1.55 - entanglement destroyed.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11643055" y="653796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C75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A0D14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B9B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 RESULTS &amp; OUTPUT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E8EB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Achievements &amp; Stretch Goals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1277295" cy="0"/>
          </a:xfrm>
          <a:prstGeom prst="line">
            <a:avLst/>
          </a:prstGeom>
          <a:noFill/>
          <a:ln w="12700">
            <a:solidFill>
              <a:srgbClr val="2A33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8892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THREE PILLARS - COMPLETE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201168" cy="201168"/>
          </a:xfrm>
          <a:prstGeom prst="ellipse">
            <a:avLst/>
          </a:prstGeom>
          <a:solidFill>
            <a:srgbClr val="5BB87A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11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1920240"/>
            <a:ext cx="6080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B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Pillar 1 - Key Exchange (BB84 + E91)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2240280"/>
            <a:ext cx="60807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Both prepare-and-measure and entanglement-based protocols, implemented via real Qiskit circuits with configurable parameters.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201168" cy="201168"/>
          </a:xfrm>
          <a:prstGeom prst="ellipse">
            <a:avLst/>
          </a:prstGeom>
          <a:solidFill>
            <a:srgbClr val="5BB87A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926080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11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2834640"/>
            <a:ext cx="6080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B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Pillar 2 - Eavesdrop Detection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3154680"/>
            <a:ext cx="60807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Dual detection: QBER threshold for BB84, CHSH Bell inequality for E91. Both reliably detect Eve at full intercept.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840480"/>
            <a:ext cx="201168" cy="201168"/>
          </a:xfrm>
          <a:prstGeom prst="ellipse">
            <a:avLst/>
          </a:prstGeom>
          <a:solidFill>
            <a:srgbClr val="5BB87A"/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3840480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11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" y="3749040"/>
            <a:ext cx="6080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B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Pillar 3 - Secret Key Distillation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4069080"/>
            <a:ext cx="60807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pipeline: basis sifting, parity-based Cascade reconciliation with binary search, SHA-256 privacy amplification with Shor-Preskill output sizing.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70916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8892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STRETCH GOALS - COMPLETE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5102352"/>
            <a:ext cx="201168" cy="201168"/>
          </a:xfrm>
          <a:prstGeom prst="ellipse">
            <a:avLst/>
          </a:prstGeom>
          <a:solidFill>
            <a:srgbClr val="E89B3A"/>
          </a:solidFill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5102352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11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5029200"/>
            <a:ext cx="6080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EB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Noisy Channel Support</a:t>
            </a:r>
            <a:r>
              <a:rPr lang="en-US" sz="1100" dirty="0">
                <a:solidFill>
                  <a:srgbClr val="8892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-  Physical error rates 0%-12% tested.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5486400"/>
            <a:ext cx="201168" cy="201168"/>
          </a:xfrm>
          <a:prstGeom prst="ellipse">
            <a:avLst/>
          </a:prstGeom>
          <a:solidFill>
            <a:srgbClr val="E89B3A"/>
          </a:solidFill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5486400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11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77240" y="5413248"/>
            <a:ext cx="6080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EB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Protocol Comparison</a:t>
            </a:r>
            <a:r>
              <a:rPr lang="en-US" sz="1100" dirty="0">
                <a:solidFill>
                  <a:srgbClr val="8892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-  BB84 vs E91 benchmarked side-by-side.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5870448"/>
            <a:ext cx="201168" cy="201168"/>
          </a:xfrm>
          <a:prstGeom prst="ellipse">
            <a:avLst/>
          </a:prstGeom>
          <a:solidFill>
            <a:srgbClr val="E89B3A"/>
          </a:solidFill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5870448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11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7240" y="5797296"/>
            <a:ext cx="6080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EB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Key-Rate Metrics</a:t>
            </a:r>
            <a:r>
              <a:rPr lang="en-US" sz="1100" dirty="0">
                <a:solidFill>
                  <a:srgbClr val="8892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-  Bits per raw qubit computed for every scenario.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223760" y="1554480"/>
            <a:ext cx="4510735" cy="4937760"/>
          </a:xfrm>
          <a:prstGeom prst="rect">
            <a:avLst/>
          </a:prstGeom>
          <a:solidFill>
            <a:srgbClr val="1A2030"/>
          </a:solidFill>
          <a:ln w="12700">
            <a:solidFill>
              <a:srgbClr val="5B9B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223760" y="1783080"/>
            <a:ext cx="451073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5B9B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SUMMARY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680960" y="2240280"/>
            <a:ext cx="3596335" cy="0"/>
          </a:xfrm>
          <a:prstGeom prst="line">
            <a:avLst/>
          </a:prstGeom>
          <a:noFill/>
          <a:ln w="12700">
            <a:solidFill>
              <a:srgbClr val="2A33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223760" y="2423160"/>
            <a:ext cx="4510735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5B9B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3200" dirty="0"/>
          </a:p>
        </p:txBody>
      </p:sp>
      <p:sp>
        <p:nvSpPr>
          <p:cNvPr id="33" name="Text 31"/>
          <p:cNvSpPr/>
          <p:nvPr/>
        </p:nvSpPr>
        <p:spPr>
          <a:xfrm>
            <a:off x="7223760" y="2971800"/>
            <a:ext cx="451073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Modules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223760" y="3337560"/>
            <a:ext cx="4510735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5B9B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3200" dirty="0"/>
          </a:p>
        </p:txBody>
      </p:sp>
      <p:sp>
        <p:nvSpPr>
          <p:cNvPr id="35" name="Text 33"/>
          <p:cNvSpPr/>
          <p:nvPr/>
        </p:nvSpPr>
        <p:spPr>
          <a:xfrm>
            <a:off x="7223760" y="3886200"/>
            <a:ext cx="451073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 Scenarios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223760" y="4251960"/>
            <a:ext cx="4510735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E89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Qiskit</a:t>
            </a:r>
            <a:endParaRPr lang="en-US" sz="3200" dirty="0"/>
          </a:p>
        </p:txBody>
      </p:sp>
      <p:sp>
        <p:nvSpPr>
          <p:cNvPr id="37" name="Text 35"/>
          <p:cNvSpPr/>
          <p:nvPr/>
        </p:nvSpPr>
        <p:spPr>
          <a:xfrm>
            <a:off x="7223760" y="4800600"/>
            <a:ext cx="451073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Quantum Backend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223760" y="5349240"/>
            <a:ext cx="451073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8892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 COMMAND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406640" y="5715000"/>
            <a:ext cx="4144975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D9E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pip install -r requirements.txt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406640" y="6035040"/>
            <a:ext cx="4144975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9B3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python main.py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1643055" y="653796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C75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11233</Words>
  <Application>WPS Presentation</Application>
  <PresentationFormat>Widescreen</PresentationFormat>
  <Paragraphs>674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9" baseType="lpstr">
      <vt:lpstr>Arial</vt:lpstr>
      <vt:lpstr>SimSun</vt:lpstr>
      <vt:lpstr>Wingdings</vt:lpstr>
      <vt:lpstr>Calibri</vt:lpstr>
      <vt:lpstr>Calibri</vt:lpstr>
      <vt:lpstr>Calibri</vt:lpstr>
      <vt:lpstr>Consolas</vt:lpstr>
      <vt:lpstr>Consolas</vt:lpstr>
      <vt:lpstr>Consolas</vt:lpstr>
      <vt:lpstr>Microsoft YaHei</vt:lpstr>
      <vt:lpstr>Arial Unicode MS</vt:lpstr>
      <vt:lpstr>Aptos</vt:lpstr>
      <vt:lpstr>Segoe UI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Quantum Hackathon 2026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Key Distribution — BB84 &amp; E91 with Qiskit</dc:title>
  <dc:creator>Kirollos</dc:creator>
  <dc:subject>PptxGenJS Presentation</dc:subject>
  <cp:lastModifiedBy>yoyo Islam</cp:lastModifiedBy>
  <cp:revision>6</cp:revision>
  <dcterms:created xsi:type="dcterms:W3CDTF">2026-05-19T21:15:00Z</dcterms:created>
  <dcterms:modified xsi:type="dcterms:W3CDTF">2026-05-20T07:09:51Z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E67037D3DC67435C86474E1C7710BE82_13</vt:lpwstr>
  </property>
  <property fmtid="{D5CDD505-2E9C-101B-9397-08002B2CF9AE}" pid="3" name="KSOProductBuildVer">
    <vt:lpwstr>1033-12.1.0.26372</vt:lpwstr>
  </property>
</Properties>
</file>